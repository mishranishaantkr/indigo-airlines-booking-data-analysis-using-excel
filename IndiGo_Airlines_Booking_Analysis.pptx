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charts/chart7.xml" ContentType="application/vnd.openxmlformats-officedocument.drawingml.chart+xml"/>
  <Override PartName="/ppt/notesSlides/notesSlide8.xml" ContentType="application/vnd.openxmlformats-officedocument.presentationml.notesSlide+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A28A8-07BD-F244-A09D-CEF888D4B1E9}" v="586" dt="2026-04-02T21:34:15.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p:scale>
          <a:sx n="190" d="100"/>
          <a:sy n="190" d="100"/>
        </p:scale>
        <p:origin x="1224"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Revenue by Seat Class (₹ Crore)</a:t>
            </a:r>
          </a:p>
        </c:rich>
      </c:tx>
      <c:overlay val="0"/>
    </c:title>
    <c:autoTitleDeleted val="0"/>
    <c:plotArea>
      <c:layout/>
      <c:barChart>
        <c:barDir val="col"/>
        <c:grouping val="clustered"/>
        <c:varyColors val="0"/>
        <c:ser>
          <c:idx val="0"/>
          <c:order val="0"/>
          <c:tx>
            <c:strRef>
              <c:f>Sheet1!$B$1</c:f>
              <c:strCache>
                <c:ptCount val="1"/>
                <c:pt idx="0">
                  <c:v>Revenue (₹ Cr)</c:v>
                </c:pt>
              </c:strCache>
            </c:strRef>
          </c:tx>
          <c:spPr>
            <a:solidFill>
              <a:srgbClr val="1A3A8F"/>
            </a:solidFill>
            <a:effectLst/>
          </c:spPr>
          <c:invertIfNegative val="0"/>
          <c:dPt>
            <c:idx val="0"/>
            <c:invertIfNegative val="0"/>
            <c:bubble3D val="0"/>
            <c:extLst>
              <c:ext xmlns:c16="http://schemas.microsoft.com/office/drawing/2014/chart" uri="{C3380CC4-5D6E-409C-BE32-E72D297353CC}">
                <c16:uniqueId val="{00000001-2225-BC42-8DA6-AB98AE879F90}"/>
              </c:ext>
            </c:extLst>
          </c:dPt>
          <c:dPt>
            <c:idx val="1"/>
            <c:invertIfNegative val="0"/>
            <c:bubble3D val="0"/>
            <c:spPr>
              <a:solidFill>
                <a:srgbClr val="0D9488"/>
              </a:solidFill>
              <a:effectLst/>
            </c:spPr>
            <c:extLst>
              <c:ext xmlns:c16="http://schemas.microsoft.com/office/drawing/2014/chart" uri="{C3380CC4-5D6E-409C-BE32-E72D297353CC}">
                <c16:uniqueId val="{00000003-2225-BC42-8DA6-AB98AE879F90}"/>
              </c:ext>
            </c:extLst>
          </c:dPt>
          <c:dPt>
            <c:idx val="2"/>
            <c:invertIfNegative val="0"/>
            <c:bubble3D val="0"/>
            <c:spPr>
              <a:solidFill>
                <a:srgbClr val="94A3B8"/>
              </a:solidFill>
              <a:effectLst/>
            </c:spPr>
            <c:extLst>
              <c:ext xmlns:c16="http://schemas.microsoft.com/office/drawing/2014/chart" uri="{C3380CC4-5D6E-409C-BE32-E72D297353CC}">
                <c16:uniqueId val="{00000005-2225-BC42-8DA6-AB98AE879F90}"/>
              </c:ext>
            </c:extLst>
          </c:dPt>
          <c:dLbls>
            <c:dLbl>
              <c:idx val="0"/>
              <c:tx>
                <c:rich>
                  <a:bodyPr/>
                  <a:lstStyle/>
                  <a:p>
                    <a:r>
                      <a:rPr lang="en-US" dirty="0"/>
                      <a:t>7.64</a:t>
                    </a:r>
                  </a:p>
                </c:rich>
              </c:tx>
              <c:showLegendKey val="0"/>
              <c:showVal val="1"/>
              <c:showCatName val="0"/>
              <c:showSerName val="0"/>
              <c:showPercent val="0"/>
              <c:showBubbleSize val="0"/>
              <c:extLst>
                <c:ext xmlns:c15="http://schemas.microsoft.com/office/drawing/2012/chart" uri="{CE6537A1-D6FC-4f65-9D91-7224C49458BB}">
                  <c15:layout>
                    <c:manualLayout>
                      <c:w val="9.2040598290598283E-2"/>
                      <c:h val="6.2934027777777776E-2"/>
                    </c:manualLayout>
                  </c15:layout>
                  <c15:showDataLabelsRange val="0"/>
                </c:ext>
                <c:ext xmlns:c16="http://schemas.microsoft.com/office/drawing/2014/chart" uri="{C3380CC4-5D6E-409C-BE32-E72D297353CC}">
                  <c16:uniqueId val="{00000001-2225-BC42-8DA6-AB98AE879F90}"/>
                </c:ext>
              </c:extLst>
            </c:dLbl>
            <c:dLbl>
              <c:idx val="1"/>
              <c:tx>
                <c:rich>
                  <a:bodyPr/>
                  <a:lstStyle/>
                  <a:p>
                    <a:fld id="{FB535368-430C-BB40-BFC5-078609A6F2F0}" type="VALUE">
                      <a:rPr lang="en-US" smtClean="0"/>
                      <a:pPr/>
                      <a:t>[VALUE]</a:t>
                    </a:fld>
                    <a:r>
                      <a:rPr lang="en-US" dirty="0"/>
                      <a:t>.13</a:t>
                    </a:r>
                  </a:p>
                </c:rich>
              </c:tx>
              <c:showLegendKey val="0"/>
              <c:showVal val="1"/>
              <c:showCatName val="0"/>
              <c:showSerName val="0"/>
              <c:showPercent val="0"/>
              <c:showBubbleSize val="0"/>
              <c:extLst>
                <c:ext xmlns:c15="http://schemas.microsoft.com/office/drawing/2012/chart" uri="{CE6537A1-D6FC-4f65-9D91-7224C49458BB}">
                  <c15:layout>
                    <c:manualLayout>
                      <c:w val="7.895299145299145E-2"/>
                      <c:h val="8.0295138888888881E-2"/>
                    </c:manualLayout>
                  </c15:layout>
                  <c15:dlblFieldTable/>
                  <c15:showDataLabelsRange val="0"/>
                </c:ext>
                <c:ext xmlns:c16="http://schemas.microsoft.com/office/drawing/2014/chart" uri="{C3380CC4-5D6E-409C-BE32-E72D297353CC}">
                  <c16:uniqueId val="{00000003-2225-BC42-8DA6-AB98AE879F90}"/>
                </c:ext>
              </c:extLst>
            </c:dLbl>
            <c:dLbl>
              <c:idx val="2"/>
              <c:tx>
                <c:rich>
                  <a:bodyPr/>
                  <a:lstStyle/>
                  <a:p>
                    <a:fld id="{5844D26A-A522-8644-A43B-2A0EBFEC1E11}" type="VALUE">
                      <a:rPr lang="en-US" smtClean="0"/>
                      <a:pPr/>
                      <a:t>[VALUE]</a:t>
                    </a:fld>
                    <a:r>
                      <a:rPr lang="en-US" dirty="0"/>
                      <a:t>.47</a:t>
                    </a:r>
                  </a:p>
                </c:rich>
              </c:tx>
              <c:showLegendKey val="0"/>
              <c:showVal val="1"/>
              <c:showCatName val="0"/>
              <c:showSerName val="0"/>
              <c:showPercent val="0"/>
              <c:showBubbleSize val="0"/>
              <c:extLst>
                <c:ext xmlns:c15="http://schemas.microsoft.com/office/drawing/2012/chart" uri="{CE6537A1-D6FC-4f65-9D91-7224C49458BB}">
                  <c15:layout>
                    <c:manualLayout>
                      <c:w val="7.895299145299145E-2"/>
                      <c:h val="6.2934027777777776E-2"/>
                    </c:manualLayout>
                  </c15:layout>
                  <c15:dlblFieldTable/>
                  <c15:showDataLabelsRange val="0"/>
                </c:ext>
                <c:ext xmlns:c16="http://schemas.microsoft.com/office/drawing/2014/chart" uri="{C3380CC4-5D6E-409C-BE32-E72D297353CC}">
                  <c16:uniqueId val="{00000005-2225-BC42-8DA6-AB98AE879F90}"/>
                </c:ext>
              </c:extLst>
            </c:dLbl>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Business</c:v>
                </c:pt>
                <c:pt idx="1">
                  <c:v>Premium Economy</c:v>
                </c:pt>
                <c:pt idx="2">
                  <c:v>Economy</c:v>
                </c:pt>
              </c:strCache>
            </c:strRef>
          </c:cat>
          <c:val>
            <c:numRef>
              <c:f>Sheet1!$B$2:$B$4</c:f>
              <c:numCache>
                <c:formatCode>General</c:formatCode>
                <c:ptCount val="3"/>
                <c:pt idx="0">
                  <c:v>7.68</c:v>
                </c:pt>
                <c:pt idx="1">
                  <c:v>6.17</c:v>
                </c:pt>
                <c:pt idx="2">
                  <c:v>4.49</c:v>
                </c:pt>
              </c:numCache>
            </c:numRef>
          </c:val>
          <c:extLst>
            <c:ext xmlns:c16="http://schemas.microsoft.com/office/drawing/2014/chart" uri="{C3380CC4-5D6E-409C-BE32-E72D297353CC}">
              <c16:uniqueId val="{00000006-2225-BC42-8DA6-AB98AE879F9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Revenue by Sales Channel</a:t>
            </a:r>
          </a:p>
        </c:rich>
      </c:tx>
      <c:overlay val="0"/>
    </c:title>
    <c:autoTitleDeleted val="0"/>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chemeClr val="accent1">
                  <a:lumMod val="75000"/>
                </a:schemeClr>
              </a:solidFill>
              <a:effectLst/>
            </c:spPr>
            <c:extLst>
              <c:ext xmlns:c16="http://schemas.microsoft.com/office/drawing/2014/chart" uri="{C3380CC4-5D6E-409C-BE32-E72D297353CC}">
                <c16:uniqueId val="{00000001-EC0D-AB49-917A-F97B53D88AEF}"/>
              </c:ext>
            </c:extLst>
          </c:dPt>
          <c:dPt>
            <c:idx val="1"/>
            <c:bubble3D val="0"/>
            <c:spPr>
              <a:solidFill>
                <a:schemeClr val="accent2">
                  <a:lumMod val="75000"/>
                </a:schemeClr>
              </a:solidFill>
              <a:effectLst/>
            </c:spPr>
            <c:extLst>
              <c:ext xmlns:c16="http://schemas.microsoft.com/office/drawing/2014/chart" uri="{C3380CC4-5D6E-409C-BE32-E72D297353CC}">
                <c16:uniqueId val="{00000003-EC0D-AB49-917A-F97B53D88AEF}"/>
              </c:ext>
            </c:extLst>
          </c:dPt>
          <c:dLbls>
            <c:dLbl>
              <c:idx val="0"/>
              <c:tx>
                <c:rich>
                  <a:bodyPr/>
                  <a:lstStyle/>
                  <a:p>
                    <a:pPr>
                      <a:defRPr sz="1100" b="0" i="0" u="none" strike="noStrike">
                        <a:solidFill>
                          <a:schemeClr val="bg2"/>
                        </a:solidFill>
                        <a:latin typeface="Arial"/>
                      </a:defRPr>
                    </a:pPr>
                    <a:r>
                      <a:rPr lang="en-US" dirty="0">
                        <a:solidFill>
                          <a:schemeClr val="bg2"/>
                        </a:solidFill>
                      </a:rPr>
                      <a:t>91.69%</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EC0D-AB49-917A-F97B53D88AEF}"/>
                </c:ext>
              </c:extLst>
            </c:dLbl>
            <c:dLbl>
              <c:idx val="1"/>
              <c:layout>
                <c:manualLayout>
                  <c:x val="3.4722222222221587E-3"/>
                  <c:y val="-1.3020833333333374E-2"/>
                </c:manualLayout>
              </c:layout>
              <c:tx>
                <c:rich>
                  <a:bodyPr/>
                  <a:lstStyle/>
                  <a:p>
                    <a:pPr>
                      <a:defRPr sz="1100" b="0" i="0" u="none" strike="noStrike">
                        <a:solidFill>
                          <a:schemeClr val="bg2"/>
                        </a:solidFill>
                        <a:latin typeface="Arial"/>
                      </a:defRPr>
                    </a:pPr>
                    <a:r>
                      <a:rPr lang="en-US" dirty="0">
                        <a:solidFill>
                          <a:schemeClr val="bg2"/>
                        </a:solidFill>
                      </a:rPr>
                      <a:t>8.31%</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EC0D-AB49-917A-F97B53D88AEF}"/>
                </c:ext>
              </c:extLst>
            </c:dLbl>
            <c:numFmt formatCode="0%" sourceLinked="0"/>
            <c:spPr>
              <a:noFill/>
              <a:ln>
                <a:noFill/>
              </a:ln>
              <a:effectLst/>
            </c:spPr>
            <c:txPr>
              <a:bodyPr/>
              <a:lstStyle/>
              <a:p>
                <a:pPr>
                  <a:defRPr sz="1800" b="0" i="0" u="none" strike="noStrike">
                    <a:solidFill>
                      <a:schemeClr val="bg2"/>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Internet</c:v>
                </c:pt>
                <c:pt idx="1">
                  <c:v>Mobile</c:v>
                </c:pt>
              </c:strCache>
            </c:strRef>
          </c:cat>
          <c:val>
            <c:numRef>
              <c:f>Sheet1!$B$2:$B$3</c:f>
              <c:numCache>
                <c:formatCode>General</c:formatCode>
                <c:ptCount val="2"/>
                <c:pt idx="0">
                  <c:v>168.1</c:v>
                </c:pt>
                <c:pt idx="1">
                  <c:v>15.2</c:v>
                </c:pt>
              </c:numCache>
            </c:numRef>
          </c:val>
          <c:extLst>
            <c:ext xmlns:c16="http://schemas.microsoft.com/office/drawing/2014/chart" uri="{C3380CC4-5D6E-409C-BE32-E72D297353CC}">
              <c16:uniqueId val="{00000004-EC0D-AB49-917A-F97B53D88AEF}"/>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Booking (₹)</c:v>
                </c:pt>
              </c:strCache>
            </c:strRef>
          </c:tx>
          <c:spPr>
            <a:solidFill>
              <a:srgbClr val="94A3B8"/>
            </a:solidFill>
            <a:effectLst>
              <a:glow>
                <a:schemeClr val="accent1">
                  <a:alpha val="40000"/>
                </a:schemeClr>
              </a:glow>
            </a:effectLst>
          </c:spPr>
          <c:invertIfNegative val="0"/>
          <c:dPt>
            <c:idx val="0"/>
            <c:invertIfNegative val="0"/>
            <c:bubble3D val="0"/>
            <c:extLst>
              <c:ext xmlns:c16="http://schemas.microsoft.com/office/drawing/2014/chart" uri="{C3380CC4-5D6E-409C-BE32-E72D297353CC}">
                <c16:uniqueId val="{00000001-BC77-254B-BC0E-C1A288F76E33}"/>
              </c:ext>
            </c:extLst>
          </c:dPt>
          <c:dPt>
            <c:idx val="1"/>
            <c:invertIfNegative val="0"/>
            <c:bubble3D val="0"/>
            <c:spPr>
              <a:solidFill>
                <a:srgbClr val="0D9488"/>
              </a:solidFill>
              <a:effectLst>
                <a:glow>
                  <a:schemeClr val="accent1">
                    <a:alpha val="40000"/>
                  </a:schemeClr>
                </a:glow>
              </a:effectLst>
            </c:spPr>
            <c:extLst>
              <c:ext xmlns:c16="http://schemas.microsoft.com/office/drawing/2014/chart" uri="{C3380CC4-5D6E-409C-BE32-E72D297353CC}">
                <c16:uniqueId val="{00000003-BC77-254B-BC0E-C1A288F76E33}"/>
              </c:ext>
            </c:extLst>
          </c:dPt>
          <c:dLbls>
            <c:dLbl>
              <c:idx val="0"/>
              <c:tx>
                <c:rich>
                  <a:bodyPr/>
                  <a:lstStyle/>
                  <a:p>
                    <a:r>
                      <a:rPr lang="en-US"/>
                      <a:t>21,426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C77-254B-BC0E-C1A288F76E33}"/>
                </c:ext>
              </c:extLst>
            </c:dLbl>
            <c:dLbl>
              <c:idx val="1"/>
              <c:tx>
                <c:rich>
                  <a:bodyPr/>
                  <a:lstStyle/>
                  <a:p>
                    <a:r>
                      <a:rPr lang="en-US"/>
                      <a:t>25,578</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C77-254B-BC0E-C1A288F76E33}"/>
                </c:ext>
              </c:extLst>
            </c:dLbl>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Baggage</c:v>
                </c:pt>
                <c:pt idx="1">
                  <c:v>With Baggage</c:v>
                </c:pt>
              </c:strCache>
            </c:strRef>
          </c:cat>
          <c:val>
            <c:numRef>
              <c:f>Sheet1!$B$2:$B$3</c:f>
              <c:numCache>
                <c:formatCode>General</c:formatCode>
                <c:ptCount val="2"/>
                <c:pt idx="0">
                  <c:v>2463</c:v>
                </c:pt>
                <c:pt idx="1">
                  <c:v>4265</c:v>
                </c:pt>
              </c:numCache>
            </c:numRef>
          </c:val>
          <c:extLst>
            <c:ext xmlns:c16="http://schemas.microsoft.com/office/drawing/2014/chart" uri="{C3380CC4-5D6E-409C-BE32-E72D297353CC}">
              <c16:uniqueId val="{00000004-BC77-254B-BC0E-C1A288F76E33}"/>
            </c:ext>
          </c:extLst>
        </c:ser>
        <c:dLbls>
          <c:showLegendKey val="0"/>
          <c:showVal val="1"/>
          <c:showCatName val="0"/>
          <c:showSerName val="0"/>
          <c:showPercent val="0"/>
          <c:showBubbleSize val="0"/>
        </c:dLbls>
        <c:gapWidth val="111"/>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minorUnit val="1000"/>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Booking (₹)</c:v>
                </c:pt>
              </c:strCache>
            </c:strRef>
          </c:tx>
          <c:spPr>
            <a:solidFill>
              <a:srgbClr val="94A3B8"/>
            </a:solidFill>
            <a:effectLst/>
          </c:spPr>
          <c:invertIfNegative val="0"/>
          <c:dPt>
            <c:idx val="0"/>
            <c:invertIfNegative val="0"/>
            <c:bubble3D val="0"/>
            <c:extLst>
              <c:ext xmlns:c16="http://schemas.microsoft.com/office/drawing/2014/chart" uri="{C3380CC4-5D6E-409C-BE32-E72D297353CC}">
                <c16:uniqueId val="{00000001-6E0B-8D40-B1D9-4CC592D8405D}"/>
              </c:ext>
            </c:extLst>
          </c:dPt>
          <c:dPt>
            <c:idx val="1"/>
            <c:invertIfNegative val="0"/>
            <c:bubble3D val="0"/>
            <c:spPr>
              <a:solidFill>
                <a:srgbClr val="F97316"/>
              </a:solidFill>
              <a:effectLst/>
            </c:spPr>
            <c:extLst>
              <c:ext xmlns:c16="http://schemas.microsoft.com/office/drawing/2014/chart" uri="{C3380CC4-5D6E-409C-BE32-E72D297353CC}">
                <c16:uniqueId val="{00000003-6E0B-8D40-B1D9-4CC592D8405D}"/>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Meals</c:v>
                </c:pt>
                <c:pt idx="1">
                  <c:v>With Meals</c:v>
                </c:pt>
              </c:strCache>
            </c:strRef>
          </c:cat>
          <c:val>
            <c:numRef>
              <c:f>Sheet1!$B$2:$B$3</c:f>
              <c:numCache>
                <c:formatCode>General</c:formatCode>
                <c:ptCount val="2"/>
                <c:pt idx="0">
                  <c:v>3029</c:v>
                </c:pt>
                <c:pt idx="1">
                  <c:v>4525</c:v>
                </c:pt>
              </c:numCache>
            </c:numRef>
          </c:val>
          <c:extLst>
            <c:ext xmlns:c16="http://schemas.microsoft.com/office/drawing/2014/chart" uri="{C3380CC4-5D6E-409C-BE32-E72D297353CC}">
              <c16:uniqueId val="{00000004-6E0B-8D40-B1D9-4CC592D840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dirty="0">
                <a:solidFill>
                  <a:srgbClr val="1E293B"/>
                </a:solidFill>
                <a:latin typeface="Arial"/>
              </a:rPr>
              <a:t>Avg Purchase Lead Time by Stay Duration (Days)</a:t>
            </a:r>
          </a:p>
        </c:rich>
      </c:tx>
      <c:overlay val="0"/>
    </c:title>
    <c:autoTitleDeleted val="0"/>
    <c:plotArea>
      <c:layout/>
      <c:barChart>
        <c:barDir val="col"/>
        <c:grouping val="clustered"/>
        <c:varyColors val="0"/>
        <c:ser>
          <c:idx val="0"/>
          <c:order val="0"/>
          <c:tx>
            <c:strRef>
              <c:f>Sheet1!$B$1</c:f>
              <c:strCache>
                <c:ptCount val="1"/>
                <c:pt idx="0">
                  <c:v>Avg Purchase Lead (days)</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1-9871-BE4A-A584-A493EF99E4ED}"/>
              </c:ext>
            </c:extLst>
          </c:dPt>
          <c:dPt>
            <c:idx val="1"/>
            <c:invertIfNegative val="0"/>
            <c:bubble3D val="0"/>
            <c:spPr>
              <a:solidFill>
                <a:srgbClr val="1A3A8F"/>
              </a:solidFill>
              <a:effectLst/>
            </c:spPr>
            <c:extLst>
              <c:ext xmlns:c16="http://schemas.microsoft.com/office/drawing/2014/chart" uri="{C3380CC4-5D6E-409C-BE32-E72D297353CC}">
                <c16:uniqueId val="{00000003-9871-BE4A-A584-A493EF99E4ED}"/>
              </c:ext>
            </c:extLst>
          </c:dPt>
          <c:dPt>
            <c:idx val="2"/>
            <c:invertIfNegative val="0"/>
            <c:bubble3D val="0"/>
            <c:spPr>
              <a:solidFill>
                <a:srgbClr val="EF4444"/>
              </a:solidFill>
              <a:effectLst/>
            </c:spPr>
            <c:extLst>
              <c:ext xmlns:c16="http://schemas.microsoft.com/office/drawing/2014/chart" uri="{C3380CC4-5D6E-409C-BE32-E72D297353CC}">
                <c16:uniqueId val="{00000005-9871-BE4A-A584-A493EF99E4ED}"/>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Short Stay</c:v>
                </c:pt>
                <c:pt idx="1">
                  <c:v>Medium Stay</c:v>
                </c:pt>
                <c:pt idx="2">
                  <c:v>Long Stay</c:v>
                </c:pt>
              </c:strCache>
            </c:strRef>
          </c:cat>
          <c:val>
            <c:numRef>
              <c:f>Sheet1!$B$2:$B$4</c:f>
              <c:numCache>
                <c:formatCode>General</c:formatCode>
                <c:ptCount val="3"/>
                <c:pt idx="0">
                  <c:v>86.68</c:v>
                </c:pt>
                <c:pt idx="1">
                  <c:v>90.49</c:v>
                </c:pt>
                <c:pt idx="2">
                  <c:v>73.010000000000005</c:v>
                </c:pt>
              </c:numCache>
            </c:numRef>
          </c:val>
          <c:extLst>
            <c:ext xmlns:c16="http://schemas.microsoft.com/office/drawing/2014/chart" uri="{C3380CC4-5D6E-409C-BE32-E72D297353CC}">
              <c16:uniqueId val="{00000006-9871-BE4A-A584-A493EF99E4E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Passenger Load by Day of Week</a:t>
            </a:r>
          </a:p>
        </c:rich>
      </c:tx>
      <c:overlay val="0"/>
    </c:title>
    <c:autoTitleDeleted val="0"/>
    <c:plotArea>
      <c:layout/>
      <c:barChart>
        <c:barDir val="col"/>
        <c:grouping val="clustered"/>
        <c:varyColors val="0"/>
        <c:ser>
          <c:idx val="0"/>
          <c:order val="0"/>
          <c:tx>
            <c:strRef>
              <c:f>Sheet1!$B$1</c:f>
              <c:strCache>
                <c:ptCount val="1"/>
                <c:pt idx="0">
                  <c:v>Passengers</c:v>
                </c:pt>
              </c:strCache>
            </c:strRef>
          </c:tx>
          <c:spPr>
            <a:solidFill>
              <a:srgbClr val="1A3A8F"/>
            </a:solidFill>
            <a:effectLst/>
          </c:spPr>
          <c:invertIfNegative val="0"/>
          <c:dPt>
            <c:idx val="0"/>
            <c:invertIfNegative val="0"/>
            <c:bubble3D val="0"/>
            <c:extLst>
              <c:ext xmlns:c16="http://schemas.microsoft.com/office/drawing/2014/chart" uri="{C3380CC4-5D6E-409C-BE32-E72D297353CC}">
                <c16:uniqueId val="{00000001-18A6-F047-AFE2-78B46F4C35EA}"/>
              </c:ext>
            </c:extLst>
          </c:dPt>
          <c:dPt>
            <c:idx val="1"/>
            <c:invertIfNegative val="0"/>
            <c:bubble3D val="0"/>
            <c:extLst>
              <c:ext xmlns:c16="http://schemas.microsoft.com/office/drawing/2014/chart" uri="{C3380CC4-5D6E-409C-BE32-E72D297353CC}">
                <c16:uniqueId val="{00000003-18A6-F047-AFE2-78B46F4C35EA}"/>
              </c:ext>
            </c:extLst>
          </c:dPt>
          <c:dPt>
            <c:idx val="2"/>
            <c:invertIfNegative val="0"/>
            <c:bubble3D val="0"/>
            <c:extLst>
              <c:ext xmlns:c16="http://schemas.microsoft.com/office/drawing/2014/chart" uri="{C3380CC4-5D6E-409C-BE32-E72D297353CC}">
                <c16:uniqueId val="{00000005-18A6-F047-AFE2-78B46F4C35EA}"/>
              </c:ext>
            </c:extLst>
          </c:dPt>
          <c:dPt>
            <c:idx val="3"/>
            <c:invertIfNegative val="0"/>
            <c:bubble3D val="0"/>
            <c:extLst>
              <c:ext xmlns:c16="http://schemas.microsoft.com/office/drawing/2014/chart" uri="{C3380CC4-5D6E-409C-BE32-E72D297353CC}">
                <c16:uniqueId val="{00000007-18A6-F047-AFE2-78B46F4C35EA}"/>
              </c:ext>
            </c:extLst>
          </c:dPt>
          <c:dPt>
            <c:idx val="4"/>
            <c:invertIfNegative val="0"/>
            <c:bubble3D val="0"/>
            <c:spPr>
              <a:solidFill>
                <a:srgbClr val="0D9488"/>
              </a:solidFill>
              <a:effectLst/>
            </c:spPr>
            <c:extLst>
              <c:ext xmlns:c16="http://schemas.microsoft.com/office/drawing/2014/chart" uri="{C3380CC4-5D6E-409C-BE32-E72D297353CC}">
                <c16:uniqueId val="{00000009-18A6-F047-AFE2-78B46F4C35EA}"/>
              </c:ext>
            </c:extLst>
          </c:dPt>
          <c:dPt>
            <c:idx val="5"/>
            <c:invertIfNegative val="0"/>
            <c:bubble3D val="0"/>
            <c:spPr>
              <a:solidFill>
                <a:srgbClr val="EF4444"/>
              </a:solidFill>
              <a:effectLst/>
            </c:spPr>
            <c:extLst>
              <c:ext xmlns:c16="http://schemas.microsoft.com/office/drawing/2014/chart" uri="{C3380CC4-5D6E-409C-BE32-E72D297353CC}">
                <c16:uniqueId val="{0000000B-18A6-F047-AFE2-78B46F4C35EA}"/>
              </c:ext>
            </c:extLst>
          </c:dPt>
          <c:dPt>
            <c:idx val="6"/>
            <c:invertIfNegative val="0"/>
            <c:bubble3D val="0"/>
            <c:spPr>
              <a:solidFill>
                <a:srgbClr val="0D9488"/>
              </a:solidFill>
              <a:effectLst/>
            </c:spPr>
            <c:extLst>
              <c:ext xmlns:c16="http://schemas.microsoft.com/office/drawing/2014/chart" uri="{C3380CC4-5D6E-409C-BE32-E72D297353CC}">
                <c16:uniqueId val="{0000000D-18A6-F047-AFE2-78B46F4C35EA}"/>
              </c:ext>
            </c:extLst>
          </c:dPt>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12933</c:v>
                </c:pt>
                <c:pt idx="1">
                  <c:v>12055</c:v>
                </c:pt>
                <c:pt idx="2">
                  <c:v>12118</c:v>
                </c:pt>
                <c:pt idx="3">
                  <c:v>11699</c:v>
                </c:pt>
                <c:pt idx="4">
                  <c:v>10528</c:v>
                </c:pt>
                <c:pt idx="5">
                  <c:v>9387</c:v>
                </c:pt>
                <c:pt idx="6">
                  <c:v>10842</c:v>
                </c:pt>
              </c:numCache>
            </c:numRef>
          </c:val>
          <c:extLst>
            <c:ext xmlns:c16="http://schemas.microsoft.com/office/drawing/2014/chart" uri="{C3380CC4-5D6E-409C-BE32-E72D297353CC}">
              <c16:uniqueId val="{0000000E-18A6-F047-AFE2-78B46F4C35E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Variance Score by Airport</a:t>
            </a:r>
          </a:p>
        </c:rich>
      </c:tx>
      <c:overlay val="0"/>
    </c:title>
    <c:autoTitleDeleted val="0"/>
    <c:plotArea>
      <c:layout/>
      <c:barChart>
        <c:barDir val="bar"/>
        <c:grouping val="clustered"/>
        <c:varyColors val="0"/>
        <c:ser>
          <c:idx val="0"/>
          <c:order val="0"/>
          <c:tx>
            <c:strRef>
              <c:f>Sheet1!$B$1</c:f>
              <c:strCache>
                <c:ptCount val="1"/>
                <c:pt idx="0">
                  <c:v>Flight Duration Variance</c:v>
                </c:pt>
              </c:strCache>
            </c:strRef>
          </c:tx>
          <c:spPr>
            <a:solidFill>
              <a:srgbClr val="DC2626"/>
            </a:solidFill>
            <a:effectLst/>
          </c:spPr>
          <c:invertIfNegative val="0"/>
          <c:dPt>
            <c:idx val="0"/>
            <c:invertIfNegative val="0"/>
            <c:bubble3D val="0"/>
            <c:extLst>
              <c:ext xmlns:c16="http://schemas.microsoft.com/office/drawing/2014/chart" uri="{C3380CC4-5D6E-409C-BE32-E72D297353CC}">
                <c16:uniqueId val="{00000001-B979-4D4A-B2E2-CB5EBFBC552C}"/>
              </c:ext>
            </c:extLst>
          </c:dPt>
          <c:dPt>
            <c:idx val="1"/>
            <c:invertIfNegative val="0"/>
            <c:bubble3D val="0"/>
            <c:extLst>
              <c:ext xmlns:c16="http://schemas.microsoft.com/office/drawing/2014/chart" uri="{C3380CC4-5D6E-409C-BE32-E72D297353CC}">
                <c16:uniqueId val="{00000003-B979-4D4A-B2E2-CB5EBFBC552C}"/>
              </c:ext>
            </c:extLst>
          </c:dPt>
          <c:dPt>
            <c:idx val="2"/>
            <c:invertIfNegative val="0"/>
            <c:bubble3D val="0"/>
            <c:spPr>
              <a:solidFill>
                <a:srgbClr val="D97706"/>
              </a:solidFill>
              <a:effectLst/>
            </c:spPr>
            <c:extLst>
              <c:ext xmlns:c16="http://schemas.microsoft.com/office/drawing/2014/chart" uri="{C3380CC4-5D6E-409C-BE32-E72D297353CC}">
                <c16:uniqueId val="{00000005-B979-4D4A-B2E2-CB5EBFBC552C}"/>
              </c:ext>
            </c:extLst>
          </c:dPt>
          <c:dPt>
            <c:idx val="3"/>
            <c:invertIfNegative val="0"/>
            <c:bubble3D val="0"/>
            <c:spPr>
              <a:solidFill>
                <a:srgbClr val="D97706"/>
              </a:solidFill>
              <a:effectLst/>
            </c:spPr>
            <c:extLst>
              <c:ext xmlns:c16="http://schemas.microsoft.com/office/drawing/2014/chart" uri="{C3380CC4-5D6E-409C-BE32-E72D297353CC}">
                <c16:uniqueId val="{00000007-B979-4D4A-B2E2-CB5EBFBC552C}"/>
              </c:ext>
            </c:extLst>
          </c:dPt>
          <c:dPt>
            <c:idx val="4"/>
            <c:invertIfNegative val="0"/>
            <c:bubble3D val="0"/>
            <c:spPr>
              <a:solidFill>
                <a:srgbClr val="CA8A04"/>
              </a:solidFill>
              <a:effectLst/>
            </c:spPr>
            <c:extLst>
              <c:ext xmlns:c16="http://schemas.microsoft.com/office/drawing/2014/chart" uri="{C3380CC4-5D6E-409C-BE32-E72D297353CC}">
                <c16:uniqueId val="{00000009-B979-4D4A-B2E2-CB5EBFBC552C}"/>
              </c:ext>
            </c:extLst>
          </c:dPt>
          <c:dPt>
            <c:idx val="5"/>
            <c:invertIfNegative val="0"/>
            <c:bubble3D val="0"/>
            <c:spPr>
              <a:solidFill>
                <a:srgbClr val="059669"/>
              </a:solidFill>
              <a:effectLst/>
            </c:spPr>
            <c:extLst>
              <c:ext xmlns:c16="http://schemas.microsoft.com/office/drawing/2014/chart" uri="{C3380CC4-5D6E-409C-BE32-E72D297353CC}">
                <c16:uniqueId val="{0000000B-B979-4D4A-B2E2-CB5EBFBC552C}"/>
              </c:ext>
            </c:extLst>
          </c:dPt>
          <c:dLbls>
            <c:dLbl>
              <c:idx val="0"/>
              <c:tx>
                <c:rich>
                  <a:bodyPr/>
                  <a:lstStyle/>
                  <a:p>
                    <a:r>
                      <a:rPr lang="en-US" dirty="0"/>
                      <a:t>1.80</a:t>
                    </a:r>
                  </a:p>
                </c:rich>
              </c:tx>
              <c:showLegendKey val="0"/>
              <c:showVal val="1"/>
              <c:showCatName val="0"/>
              <c:showSerName val="0"/>
              <c:showPercent val="0"/>
              <c:showBubbleSize val="0"/>
              <c:extLst>
                <c:ext xmlns:c15="http://schemas.microsoft.com/office/drawing/2012/chart" uri="{CE6537A1-D6FC-4f65-9D91-7224C49458BB}">
                  <c15:layout>
                    <c:manualLayout>
                      <c:w val="9.261025865356573E-2"/>
                      <c:h val="5.9789602912539146E-2"/>
                    </c:manualLayout>
                  </c15:layout>
                  <c15:showDataLabelsRange val="0"/>
                </c:ext>
                <c:ext xmlns:c16="http://schemas.microsoft.com/office/drawing/2014/chart" uri="{C3380CC4-5D6E-409C-BE32-E72D297353CC}">
                  <c16:uniqueId val="{00000001-B979-4D4A-B2E2-CB5EBFBC552C}"/>
                </c:ext>
              </c:extLst>
            </c:dLbl>
            <c:dLbl>
              <c:idx val="1"/>
              <c:tx>
                <c:rich>
                  <a:bodyPr/>
                  <a:lstStyle/>
                  <a:p>
                    <a:r>
                      <a:rPr lang="en-US" dirty="0"/>
                      <a:t>1.78</a:t>
                    </a:r>
                  </a:p>
                </c:rich>
              </c:tx>
              <c:showLegendKey val="0"/>
              <c:showVal val="1"/>
              <c:showCatName val="0"/>
              <c:showSerName val="0"/>
              <c:showPercent val="0"/>
              <c:showBubbleSize val="0"/>
              <c:extLst>
                <c:ext xmlns:c15="http://schemas.microsoft.com/office/drawing/2012/chart" uri="{CE6537A1-D6FC-4f65-9D91-7224C49458BB}">
                  <c15:layout>
                    <c:manualLayout>
                      <c:w val="0.1032940193373264"/>
                      <c:h val="5.9789602912539146E-2"/>
                    </c:manualLayout>
                  </c15:layout>
                  <c15:showDataLabelsRange val="0"/>
                </c:ext>
                <c:ext xmlns:c16="http://schemas.microsoft.com/office/drawing/2014/chart" uri="{C3380CC4-5D6E-409C-BE32-E72D297353CC}">
                  <c16:uniqueId val="{00000003-B979-4D4A-B2E2-CB5EBFBC552C}"/>
                </c:ext>
              </c:extLst>
            </c:dLbl>
            <c:dLbl>
              <c:idx val="2"/>
              <c:tx>
                <c:rich>
                  <a:bodyPr/>
                  <a:lstStyle/>
                  <a:p>
                    <a:r>
                      <a:rPr lang="en-US" dirty="0"/>
                      <a:t>1.68</a:t>
                    </a:r>
                  </a:p>
                </c:rich>
              </c:tx>
              <c:showLegendKey val="0"/>
              <c:showVal val="1"/>
              <c:showCatName val="0"/>
              <c:showSerName val="0"/>
              <c:showPercent val="0"/>
              <c:showBubbleSize val="0"/>
              <c:extLst>
                <c:ext xmlns:c15="http://schemas.microsoft.com/office/drawing/2012/chart" uri="{CE6537A1-D6FC-4f65-9D91-7224C49458BB}">
                  <c15:layout>
                    <c:manualLayout>
                      <c:w val="0.11753903358234066"/>
                      <c:h val="4.6348742697485394E-2"/>
                    </c:manualLayout>
                  </c15:layout>
                  <c15:showDataLabelsRange val="0"/>
                </c:ext>
                <c:ext xmlns:c16="http://schemas.microsoft.com/office/drawing/2014/chart" uri="{C3380CC4-5D6E-409C-BE32-E72D297353CC}">
                  <c16:uniqueId val="{00000005-B979-4D4A-B2E2-CB5EBFBC552C}"/>
                </c:ext>
              </c:extLst>
            </c:dLbl>
            <c:dLbl>
              <c:idx val="3"/>
              <c:tx>
                <c:rich>
                  <a:bodyPr/>
                  <a:lstStyle/>
                  <a:p>
                    <a:r>
                      <a:rPr lang="en-US" dirty="0"/>
                      <a:t>1.53</a:t>
                    </a:r>
                  </a:p>
                </c:rich>
              </c:tx>
              <c:showLegendKey val="0"/>
              <c:showVal val="1"/>
              <c:showCatName val="0"/>
              <c:showSerName val="0"/>
              <c:showPercent val="0"/>
              <c:showBubbleSize val="0"/>
              <c:extLst>
                <c:ext xmlns:c15="http://schemas.microsoft.com/office/drawing/2012/chart" uri="{CE6537A1-D6FC-4f65-9D91-7224C49458BB}">
                  <c15:layout>
                    <c:manualLayout>
                      <c:w val="0.12110028714359423"/>
                      <c:h val="5.9789602912539146E-2"/>
                    </c:manualLayout>
                  </c15:layout>
                  <c15:showDataLabelsRange val="0"/>
                </c:ext>
                <c:ext xmlns:c16="http://schemas.microsoft.com/office/drawing/2014/chart" uri="{C3380CC4-5D6E-409C-BE32-E72D297353CC}">
                  <c16:uniqueId val="{00000007-B979-4D4A-B2E2-CB5EBFBC552C}"/>
                </c:ext>
              </c:extLst>
            </c:dLbl>
            <c:dLbl>
              <c:idx val="4"/>
              <c:tx>
                <c:rich>
                  <a:bodyPr/>
                  <a:lstStyle/>
                  <a:p>
                    <a:r>
                      <a:rPr lang="en-US" dirty="0"/>
                      <a:t>1.28</a:t>
                    </a:r>
                  </a:p>
                </c:rich>
              </c:tx>
              <c:showLegendKey val="0"/>
              <c:showVal val="1"/>
              <c:showCatName val="0"/>
              <c:showSerName val="0"/>
              <c:showPercent val="0"/>
              <c:showBubbleSize val="0"/>
              <c:extLst>
                <c:ext xmlns:c15="http://schemas.microsoft.com/office/drawing/2012/chart" uri="{CE6537A1-D6FC-4f65-9D91-7224C49458BB}">
                  <c15:layout>
                    <c:manualLayout>
                      <c:w val="0.11041652645983353"/>
                      <c:h val="5.5309316174187891E-2"/>
                    </c:manualLayout>
                  </c15:layout>
                  <c15:showDataLabelsRange val="0"/>
                </c:ext>
                <c:ext xmlns:c16="http://schemas.microsoft.com/office/drawing/2014/chart" uri="{C3380CC4-5D6E-409C-BE32-E72D297353CC}">
                  <c16:uniqueId val="{00000009-B979-4D4A-B2E2-CB5EBFBC552C}"/>
                </c:ext>
              </c:extLst>
            </c:dLbl>
            <c:dLbl>
              <c:idx val="5"/>
              <c:tx>
                <c:rich>
                  <a:bodyPr/>
                  <a:lstStyle/>
                  <a:p>
                    <a:r>
                      <a:rPr lang="en-US" dirty="0"/>
                      <a:t>0.92</a:t>
                    </a:r>
                  </a:p>
                </c:rich>
              </c:tx>
              <c:showLegendKey val="0"/>
              <c:showVal val="1"/>
              <c:showCatName val="0"/>
              <c:showSerName val="0"/>
              <c:showPercent val="0"/>
              <c:showBubbleSize val="0"/>
              <c:extLst>
                <c:ext xmlns:c15="http://schemas.microsoft.com/office/drawing/2012/chart" uri="{CE6537A1-D6FC-4f65-9D91-7224C49458BB}">
                  <c15:layout>
                    <c:manualLayout>
                      <c:w val="0.11753903358234066"/>
                      <c:h val="5.5309316174187891E-2"/>
                    </c:manualLayout>
                  </c15:layout>
                  <c15:showDataLabelsRange val="0"/>
                </c:ext>
                <c:ext xmlns:c16="http://schemas.microsoft.com/office/drawing/2014/chart" uri="{C3380CC4-5D6E-409C-BE32-E72D297353CC}">
                  <c16:uniqueId val="{0000000B-B979-4D4A-B2E2-CB5EBFBC552C}"/>
                </c:ext>
              </c:extLst>
            </c:dLbl>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KIX</c:v>
                </c:pt>
                <c:pt idx="1">
                  <c:v>ICN</c:v>
                </c:pt>
                <c:pt idx="2">
                  <c:v>PEK</c:v>
                </c:pt>
                <c:pt idx="3">
                  <c:v>HND</c:v>
                </c:pt>
                <c:pt idx="4">
                  <c:v>PER</c:v>
                </c:pt>
                <c:pt idx="5">
                  <c:v>SYD</c:v>
                </c:pt>
              </c:strCache>
            </c:strRef>
          </c:cat>
          <c:val>
            <c:numRef>
              <c:f>Sheet1!$B$2:$B$7</c:f>
              <c:numCache>
                <c:formatCode>General</c:formatCode>
                <c:ptCount val="6"/>
                <c:pt idx="0">
                  <c:v>1.8</c:v>
                </c:pt>
                <c:pt idx="1">
                  <c:v>1.78</c:v>
                </c:pt>
                <c:pt idx="2">
                  <c:v>1.68</c:v>
                </c:pt>
                <c:pt idx="3">
                  <c:v>1.53</c:v>
                </c:pt>
                <c:pt idx="4">
                  <c:v>1.28</c:v>
                </c:pt>
                <c:pt idx="5">
                  <c:v>0.92</c:v>
                </c:pt>
              </c:numCache>
            </c:numRef>
          </c:val>
          <c:extLst>
            <c:ext xmlns:c16="http://schemas.microsoft.com/office/drawing/2014/chart" uri="{C3380CC4-5D6E-409C-BE32-E72D297353CC}">
              <c16:uniqueId val="{0000000C-B979-4D4A-B2E2-CB5EBFBC552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Passengers by Day &amp; Time Segment</a:t>
            </a:r>
          </a:p>
        </c:rich>
      </c:tx>
      <c:overlay val="0"/>
    </c:title>
    <c:autoTitleDeleted val="0"/>
    <c:plotArea>
      <c:layout/>
      <c:barChart>
        <c:barDir val="col"/>
        <c:grouping val="stacked"/>
        <c:varyColors val="0"/>
        <c:ser>
          <c:idx val="0"/>
          <c:order val="0"/>
          <c:tx>
            <c:strRef>
              <c:f>Sheet1!$B$1</c:f>
              <c:strCache>
                <c:ptCount val="1"/>
                <c:pt idx="0">
                  <c:v>Night</c:v>
                </c:pt>
              </c:strCache>
            </c:strRef>
          </c:tx>
          <c:spPr>
            <a:solidFill>
              <a:srgbClr val="1E3A6E"/>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4435</c:v>
                </c:pt>
                <c:pt idx="1">
                  <c:v>4265</c:v>
                </c:pt>
                <c:pt idx="2">
                  <c:v>4226</c:v>
                </c:pt>
                <c:pt idx="3">
                  <c:v>4046</c:v>
                </c:pt>
                <c:pt idx="4">
                  <c:v>3854</c:v>
                </c:pt>
                <c:pt idx="5">
                  <c:v>3413</c:v>
                </c:pt>
                <c:pt idx="6">
                  <c:v>3472</c:v>
                </c:pt>
              </c:numCache>
            </c:numRef>
          </c:val>
          <c:extLst>
            <c:ext xmlns:c16="http://schemas.microsoft.com/office/drawing/2014/chart" uri="{C3380CC4-5D6E-409C-BE32-E72D297353CC}">
              <c16:uniqueId val="{00000000-DE15-E545-A2F4-E4776AD1F719}"/>
            </c:ext>
          </c:extLst>
        </c:ser>
        <c:ser>
          <c:idx val="1"/>
          <c:order val="1"/>
          <c:tx>
            <c:strRef>
              <c:f>Sheet1!$C$1</c:f>
              <c:strCache>
                <c:ptCount val="1"/>
                <c:pt idx="0">
                  <c:v>Morning</c:v>
                </c:pt>
              </c:strCache>
            </c:strRef>
          </c:tx>
          <c:spPr>
            <a:solidFill>
              <a:srgbClr val="0D9488"/>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5048</c:v>
                </c:pt>
                <c:pt idx="1">
                  <c:v>4555</c:v>
                </c:pt>
                <c:pt idx="2">
                  <c:v>4642</c:v>
                </c:pt>
                <c:pt idx="3">
                  <c:v>4542</c:v>
                </c:pt>
                <c:pt idx="4">
                  <c:v>3928</c:v>
                </c:pt>
                <c:pt idx="5">
                  <c:v>3281</c:v>
                </c:pt>
                <c:pt idx="6">
                  <c:v>3872</c:v>
                </c:pt>
              </c:numCache>
            </c:numRef>
          </c:val>
          <c:extLst>
            <c:ext xmlns:c16="http://schemas.microsoft.com/office/drawing/2014/chart" uri="{C3380CC4-5D6E-409C-BE32-E72D297353CC}">
              <c16:uniqueId val="{00000001-DE15-E545-A2F4-E4776AD1F719}"/>
            </c:ext>
          </c:extLst>
        </c:ser>
        <c:ser>
          <c:idx val="2"/>
          <c:order val="2"/>
          <c:tx>
            <c:strRef>
              <c:f>Sheet1!$D$1</c:f>
              <c:strCache>
                <c:ptCount val="1"/>
                <c:pt idx="0">
                  <c:v>Afternoon</c:v>
                </c:pt>
              </c:strCache>
            </c:strRef>
          </c:tx>
          <c:spPr>
            <a:solidFill>
              <a:srgbClr val="F97316"/>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Sheet1!$D$2:$D$8</c:f>
              <c:numCache>
                <c:formatCode>General</c:formatCode>
                <c:ptCount val="7"/>
                <c:pt idx="0">
                  <c:v>2920</c:v>
                </c:pt>
                <c:pt idx="1">
                  <c:v>2702</c:v>
                </c:pt>
                <c:pt idx="2">
                  <c:v>2681</c:v>
                </c:pt>
                <c:pt idx="3">
                  <c:v>2564</c:v>
                </c:pt>
                <c:pt idx="4">
                  <c:v>2207</c:v>
                </c:pt>
                <c:pt idx="5">
                  <c:v>2219</c:v>
                </c:pt>
                <c:pt idx="6">
                  <c:v>2819</c:v>
                </c:pt>
              </c:numCache>
            </c:numRef>
          </c:val>
          <c:extLst>
            <c:ext xmlns:c16="http://schemas.microsoft.com/office/drawing/2014/chart" uri="{C3380CC4-5D6E-409C-BE32-E72D297353CC}">
              <c16:uniqueId val="{00000002-DE15-E545-A2F4-E4776AD1F719}"/>
            </c:ext>
          </c:extLst>
        </c:ser>
        <c:ser>
          <c:idx val="3"/>
          <c:order val="3"/>
          <c:tx>
            <c:strRef>
              <c:f>Sheet1!$E$1</c:f>
              <c:strCache>
                <c:ptCount val="1"/>
                <c:pt idx="0">
                  <c:v>Evening</c:v>
                </c:pt>
              </c:strCache>
            </c:strRef>
          </c:tx>
          <c:spPr>
            <a:solidFill>
              <a:srgbClr val="7C3AED"/>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Sheet1!$E$2:$E$8</c:f>
              <c:numCache>
                <c:formatCode>General</c:formatCode>
                <c:ptCount val="7"/>
                <c:pt idx="0">
                  <c:v>530</c:v>
                </c:pt>
                <c:pt idx="1">
                  <c:v>533</c:v>
                </c:pt>
                <c:pt idx="2">
                  <c:v>569</c:v>
                </c:pt>
                <c:pt idx="3">
                  <c:v>547</c:v>
                </c:pt>
                <c:pt idx="4">
                  <c:v>539</c:v>
                </c:pt>
                <c:pt idx="5">
                  <c:v>474</c:v>
                </c:pt>
                <c:pt idx="6">
                  <c:v>679</c:v>
                </c:pt>
              </c:numCache>
            </c:numRef>
          </c:val>
          <c:extLst>
            <c:ext xmlns:c16="http://schemas.microsoft.com/office/drawing/2014/chart" uri="{C3380CC4-5D6E-409C-BE32-E72D297353CC}">
              <c16:uniqueId val="{00000003-DE15-E545-A2F4-E4776AD1F719}"/>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legendEntry>
        <c:idx val="0"/>
        <c:txPr>
          <a:bodyPr/>
          <a:lstStyle/>
          <a:p>
            <a:pPr>
              <a:defRPr sz="1100"/>
            </a:pPr>
            <a:endParaRPr lang="en-US"/>
          </a:p>
        </c:txPr>
      </c:legendEntry>
      <c:legendEntry>
        <c:idx val="1"/>
        <c:txPr>
          <a:bodyPr/>
          <a:lstStyle/>
          <a:p>
            <a:pPr>
              <a:defRPr sz="1100"/>
            </a:pPr>
            <a:endParaRPr lang="en-US"/>
          </a:p>
        </c:txPr>
      </c:legendEntry>
      <c:legendEntry>
        <c:idx val="2"/>
        <c:txPr>
          <a:bodyPr/>
          <a:lstStyle/>
          <a:p>
            <a:pPr>
              <a:defRPr sz="1100"/>
            </a:pPr>
            <a:endParaRPr lang="en-US"/>
          </a:p>
        </c:txPr>
      </c:legendEntry>
      <c:legendEntry>
        <c:idx val="3"/>
        <c:txPr>
          <a:bodyPr/>
          <a:lstStyle/>
          <a:p>
            <a:pPr>
              <a:defRPr sz="1100"/>
            </a:pPr>
            <a:endParaRPr lang="en-US"/>
          </a:p>
        </c:txPr>
      </c:legendEntry>
      <c:layout>
        <c:manualLayout>
          <c:xMode val="edge"/>
          <c:yMode val="edge"/>
          <c:x val="0.20047378693047985"/>
          <c:y val="0.90130858642669665"/>
          <c:w val="0.68024900733562155"/>
          <c:h val="9.4723159605049373E-2"/>
        </c:manualLayout>
      </c:layou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dirty="0">
                <a:solidFill>
                  <a:srgbClr val="1E293B"/>
                </a:solidFill>
                <a:latin typeface="Arial"/>
              </a:rPr>
              <a:t>Avg Booking Amount by Seat Class (₹) out of 50k </a:t>
            </a:r>
          </a:p>
        </c:rich>
      </c:tx>
      <c:overlay val="0"/>
    </c:title>
    <c:autoTitleDeleted val="0"/>
    <c:plotArea>
      <c:layout/>
      <c:barChart>
        <c:barDir val="col"/>
        <c:grouping val="clustered"/>
        <c:varyColors val="0"/>
        <c:ser>
          <c:idx val="0"/>
          <c:order val="0"/>
          <c:tx>
            <c:strRef>
              <c:f>Sheet1!$B$1</c:f>
              <c:strCache>
                <c:ptCount val="1"/>
                <c:pt idx="0">
                  <c:v>Avg Booking Amount (₹)</c:v>
                </c:pt>
              </c:strCache>
            </c:strRef>
          </c:tx>
          <c:spPr>
            <a:solidFill>
              <a:srgbClr val="1A3A8F"/>
            </a:solidFill>
            <a:effectLst/>
          </c:spPr>
          <c:invertIfNegative val="0"/>
          <c:dPt>
            <c:idx val="0"/>
            <c:invertIfNegative val="0"/>
            <c:bubble3D val="0"/>
            <c:extLst>
              <c:ext xmlns:c16="http://schemas.microsoft.com/office/drawing/2014/chart" uri="{C3380CC4-5D6E-409C-BE32-E72D297353CC}">
                <c16:uniqueId val="{00000001-3E54-8F48-B593-A3F81DAFF806}"/>
              </c:ext>
            </c:extLst>
          </c:dPt>
          <c:dPt>
            <c:idx val="1"/>
            <c:invertIfNegative val="0"/>
            <c:bubble3D val="0"/>
            <c:spPr>
              <a:solidFill>
                <a:srgbClr val="0D9488"/>
              </a:solidFill>
              <a:effectLst/>
            </c:spPr>
            <c:extLst>
              <c:ext xmlns:c16="http://schemas.microsoft.com/office/drawing/2014/chart" uri="{C3380CC4-5D6E-409C-BE32-E72D297353CC}">
                <c16:uniqueId val="{00000003-3E54-8F48-B593-A3F81DAFF806}"/>
              </c:ext>
            </c:extLst>
          </c:dPt>
          <c:dPt>
            <c:idx val="2"/>
            <c:invertIfNegative val="0"/>
            <c:bubble3D val="0"/>
            <c:spPr>
              <a:solidFill>
                <a:srgbClr val="94A3B8"/>
              </a:solidFill>
              <a:effectLst/>
            </c:spPr>
            <c:extLst>
              <c:ext xmlns:c16="http://schemas.microsoft.com/office/drawing/2014/chart" uri="{C3380CC4-5D6E-409C-BE32-E72D297353CC}">
                <c16:uniqueId val="{00000005-3E54-8F48-B593-A3F81DAFF806}"/>
              </c:ext>
            </c:extLst>
          </c:dPt>
          <c:dLbls>
            <c:numFmt formatCode="#,##0" sourceLinked="0"/>
            <c:spPr>
              <a:noFill/>
              <a:ln>
                <a:noFill/>
              </a:ln>
              <a:effectLst/>
            </c:spPr>
            <c:txPr>
              <a:bodyPr/>
              <a:lstStyle/>
              <a:p>
                <a:pPr>
                  <a:defRPr sz="9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Business</c:v>
                </c:pt>
                <c:pt idx="1">
                  <c:v>Premium Economy</c:v>
                </c:pt>
                <c:pt idx="2">
                  <c:v>Economy</c:v>
                </c:pt>
              </c:strCache>
            </c:strRef>
          </c:cat>
          <c:val>
            <c:numRef>
              <c:f>Sheet1!$B$2:$B$4</c:f>
              <c:numCache>
                <c:formatCode>General</c:formatCode>
                <c:ptCount val="3"/>
                <c:pt idx="0">
                  <c:v>4609</c:v>
                </c:pt>
                <c:pt idx="1">
                  <c:v>3701</c:v>
                </c:pt>
                <c:pt idx="2">
                  <c:v>2696</c:v>
                </c:pt>
              </c:numCache>
            </c:numRef>
          </c:val>
          <c:extLst>
            <c:ext xmlns:c16="http://schemas.microsoft.com/office/drawing/2014/chart" uri="{C3380CC4-5D6E-409C-BE32-E72D297353CC}">
              <c16:uniqueId val="{00000006-3E54-8F48-B593-A3F81DAFF8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Avg Purchase Lead by Seat Class (Days)</a:t>
            </a:r>
          </a:p>
        </c:rich>
      </c:tx>
      <c:overlay val="0"/>
    </c:title>
    <c:autoTitleDeleted val="0"/>
    <c:plotArea>
      <c:layout/>
      <c:barChart>
        <c:barDir val="col"/>
        <c:grouping val="clustered"/>
        <c:varyColors val="0"/>
        <c:ser>
          <c:idx val="0"/>
          <c:order val="0"/>
          <c:tx>
            <c:strRef>
              <c:f>Sheet1!$B$1</c:f>
              <c:strCache>
                <c:ptCount val="1"/>
                <c:pt idx="0">
                  <c:v>Avg Purchase Lead (days)</c:v>
                </c:pt>
              </c:strCache>
            </c:strRef>
          </c:tx>
          <c:spPr>
            <a:solidFill>
              <a:srgbClr val="1E3A6E"/>
            </a:solidFill>
            <a:effectLst/>
          </c:spPr>
          <c:invertIfNegative val="0"/>
          <c:dPt>
            <c:idx val="0"/>
            <c:invertIfNegative val="0"/>
            <c:bubble3D val="0"/>
            <c:extLst>
              <c:ext xmlns:c16="http://schemas.microsoft.com/office/drawing/2014/chart" uri="{C3380CC4-5D6E-409C-BE32-E72D297353CC}">
                <c16:uniqueId val="{00000001-26AB-494B-A5B1-C9DF94E5A735}"/>
              </c:ext>
            </c:extLst>
          </c:dPt>
          <c:dPt>
            <c:idx val="1"/>
            <c:invertIfNegative val="0"/>
            <c:bubble3D val="0"/>
            <c:spPr>
              <a:solidFill>
                <a:srgbClr val="0D9488"/>
              </a:solidFill>
              <a:effectLst/>
            </c:spPr>
            <c:extLst>
              <c:ext xmlns:c16="http://schemas.microsoft.com/office/drawing/2014/chart" uri="{C3380CC4-5D6E-409C-BE32-E72D297353CC}">
                <c16:uniqueId val="{00000003-26AB-494B-A5B1-C9DF94E5A735}"/>
              </c:ext>
            </c:extLst>
          </c:dPt>
          <c:dPt>
            <c:idx val="2"/>
            <c:invertIfNegative val="0"/>
            <c:bubble3D val="0"/>
            <c:spPr>
              <a:solidFill>
                <a:srgbClr val="94A3B8"/>
              </a:solidFill>
              <a:effectLst/>
            </c:spPr>
            <c:extLst>
              <c:ext xmlns:c16="http://schemas.microsoft.com/office/drawing/2014/chart" uri="{C3380CC4-5D6E-409C-BE32-E72D297353CC}">
                <c16:uniqueId val="{00000005-26AB-494B-A5B1-C9DF94E5A735}"/>
              </c:ext>
            </c:extLst>
          </c:dPt>
          <c:dLbls>
            <c:dLbl>
              <c:idx val="0"/>
              <c:tx>
                <c:rich>
                  <a:bodyPr/>
                  <a:lstStyle/>
                  <a:p>
                    <a:r>
                      <a:rPr lang="en-US"/>
                      <a:t>84.59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6AB-494B-A5B1-C9DF94E5A735}"/>
                </c:ext>
              </c:extLst>
            </c:dLbl>
            <c:dLbl>
              <c:idx val="1"/>
              <c:tx>
                <c:rich>
                  <a:bodyPr/>
                  <a:lstStyle/>
                  <a:p>
                    <a:fld id="{D6E629A9-EDCD-414C-BB4A-D2596211465A}" type="VALUE">
                      <a:rPr lang="en-US" smtClean="0"/>
                      <a:pPr/>
                      <a:t>[VALUE]</a:t>
                    </a:fld>
                    <a:r>
                      <a:rPr lang="en-US"/>
                      <a:t>.27</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6AB-494B-A5B1-C9DF94E5A735}"/>
                </c:ext>
              </c:extLst>
            </c:dLbl>
            <c:dLbl>
              <c:idx val="2"/>
              <c:tx>
                <c:rich>
                  <a:bodyPr/>
                  <a:lstStyle/>
                  <a:p>
                    <a:r>
                      <a:rPr lang="en-US"/>
                      <a:t>84.95</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6AB-494B-A5B1-C9DF94E5A735}"/>
                </c:ext>
              </c:extLst>
            </c:dLbl>
            <c:numFmt formatCode="#,##0" sourceLinked="0"/>
            <c:spPr>
              <a:noFill/>
              <a:ln>
                <a:noFill/>
              </a:ln>
              <a:effectLst/>
            </c:spPr>
            <c:txPr>
              <a:bodyPr/>
              <a:lstStyle/>
              <a:p>
                <a:pPr>
                  <a:defRPr sz="9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Business</c:v>
                </c:pt>
                <c:pt idx="1">
                  <c:v>Premium Economy</c:v>
                </c:pt>
                <c:pt idx="2">
                  <c:v>Economy</c:v>
                </c:pt>
              </c:strCache>
            </c:strRef>
          </c:cat>
          <c:val>
            <c:numRef>
              <c:f>Sheet1!$B$2:$B$4</c:f>
              <c:numCache>
                <c:formatCode>General</c:formatCode>
                <c:ptCount val="3"/>
                <c:pt idx="0">
                  <c:v>84.6</c:v>
                </c:pt>
                <c:pt idx="1">
                  <c:v>85.3</c:v>
                </c:pt>
                <c:pt idx="2">
                  <c:v>85</c:v>
                </c:pt>
              </c:numCache>
            </c:numRef>
          </c:val>
          <c:extLst>
            <c:ext xmlns:c16="http://schemas.microsoft.com/office/drawing/2014/chart" uri="{C3380CC4-5D6E-409C-BE32-E72D297353CC}">
              <c16:uniqueId val="{00000006-26AB-494B-A5B1-C9DF94E5A73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0.19211</cdr:x>
      <cdr:y>0.10363</cdr:y>
    </cdr:from>
    <cdr:to>
      <cdr:x>0.29247</cdr:x>
      <cdr:y>0.18891</cdr:y>
    </cdr:to>
    <cdr:sp macro="" textlink="">
      <cdr:nvSpPr>
        <cdr:cNvPr id="2" name="TextBox 1">
          <a:extLst xmlns:a="http://schemas.openxmlformats.org/drawingml/2006/main">
            <a:ext uri="{FF2B5EF4-FFF2-40B4-BE49-F238E27FC236}">
              <a16:creationId xmlns:a16="http://schemas.microsoft.com/office/drawing/2014/main" id="{E57590E1-1EB1-5C1A-6143-9A6EEC1002F8}"/>
            </a:ext>
          </a:extLst>
        </cdr:cNvPr>
        <cdr:cNvSpPr txBox="1"/>
      </cdr:nvSpPr>
      <cdr:spPr>
        <a:xfrm xmlns:a="http://schemas.openxmlformats.org/drawingml/2006/main">
          <a:off x="790514" y="274812"/>
          <a:ext cx="412954" cy="22614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0.18765</cdr:x>
      <cdr:y>0.10728</cdr:y>
    </cdr:from>
    <cdr:to>
      <cdr:x>0.27037</cdr:x>
      <cdr:y>0.18966</cdr:y>
    </cdr:to>
    <cdr:sp macro="" textlink="">
      <cdr:nvSpPr>
        <cdr:cNvPr id="3" name="TextBox 2">
          <a:extLst xmlns:a="http://schemas.openxmlformats.org/drawingml/2006/main">
            <a:ext uri="{FF2B5EF4-FFF2-40B4-BE49-F238E27FC236}">
              <a16:creationId xmlns:a16="http://schemas.microsoft.com/office/drawing/2014/main" id="{A0DDB3FC-015B-26E0-6A90-535174AA656F}"/>
            </a:ext>
          </a:extLst>
        </cdr:cNvPr>
        <cdr:cNvSpPr txBox="1"/>
      </cdr:nvSpPr>
      <cdr:spPr>
        <a:xfrm xmlns:a="http://schemas.openxmlformats.org/drawingml/2006/main">
          <a:off x="772160" y="284480"/>
          <a:ext cx="340360" cy="21844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0.15432</cdr:x>
      <cdr:y>0.13793</cdr:y>
    </cdr:from>
    <cdr:to>
      <cdr:x>0.26914</cdr:x>
      <cdr:y>0.21456</cdr:y>
    </cdr:to>
    <cdr:sp macro="" textlink="">
      <cdr:nvSpPr>
        <cdr:cNvPr id="4" name="TextBox 3">
          <a:extLst xmlns:a="http://schemas.openxmlformats.org/drawingml/2006/main">
            <a:ext uri="{FF2B5EF4-FFF2-40B4-BE49-F238E27FC236}">
              <a16:creationId xmlns:a16="http://schemas.microsoft.com/office/drawing/2014/main" id="{A527C079-54EE-536D-CFE7-14DC83CEC63C}"/>
            </a:ext>
          </a:extLst>
        </cdr:cNvPr>
        <cdr:cNvSpPr txBox="1"/>
      </cdr:nvSpPr>
      <cdr:spPr>
        <a:xfrm xmlns:a="http://schemas.openxmlformats.org/drawingml/2006/main">
          <a:off x="635000" y="365760"/>
          <a:ext cx="472440" cy="2032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12,933</a:t>
          </a:r>
          <a:endParaRPr lang="en-US" sz="1100" kern="1200" dirty="0"/>
        </a:p>
      </cdr:txBody>
    </cdr:sp>
  </cdr:relSizeAnchor>
  <cdr:relSizeAnchor xmlns:cdr="http://schemas.openxmlformats.org/drawingml/2006/chartDrawing">
    <cdr:from>
      <cdr:x>0.2716</cdr:x>
      <cdr:y>0.17625</cdr:y>
    </cdr:from>
    <cdr:to>
      <cdr:x>0.38148</cdr:x>
      <cdr:y>0.25287</cdr:y>
    </cdr:to>
    <cdr:sp macro="" textlink="">
      <cdr:nvSpPr>
        <cdr:cNvPr id="6" name="TextBox 5">
          <a:extLst xmlns:a="http://schemas.openxmlformats.org/drawingml/2006/main">
            <a:ext uri="{FF2B5EF4-FFF2-40B4-BE49-F238E27FC236}">
              <a16:creationId xmlns:a16="http://schemas.microsoft.com/office/drawing/2014/main" id="{EEBD39EE-007E-C2DD-7EBA-4C657BE042BD}"/>
            </a:ext>
          </a:extLst>
        </cdr:cNvPr>
        <cdr:cNvSpPr txBox="1"/>
      </cdr:nvSpPr>
      <cdr:spPr>
        <a:xfrm xmlns:a="http://schemas.openxmlformats.org/drawingml/2006/main">
          <a:off x="1117600" y="467360"/>
          <a:ext cx="452120" cy="2032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12,055</a:t>
          </a:r>
          <a:endParaRPr lang="en-US" sz="1100" kern="1200" dirty="0"/>
        </a:p>
      </cdr:txBody>
    </cdr:sp>
  </cdr:relSizeAnchor>
  <cdr:relSizeAnchor xmlns:cdr="http://schemas.openxmlformats.org/drawingml/2006/chartDrawing">
    <cdr:from>
      <cdr:x>0.38642</cdr:x>
      <cdr:y>0.18008</cdr:y>
    </cdr:from>
    <cdr:to>
      <cdr:x>0.51111</cdr:x>
      <cdr:y>0.25287</cdr:y>
    </cdr:to>
    <cdr:sp macro="" textlink="">
      <cdr:nvSpPr>
        <cdr:cNvPr id="7" name="TextBox 6">
          <a:extLst xmlns:a="http://schemas.openxmlformats.org/drawingml/2006/main">
            <a:ext uri="{FF2B5EF4-FFF2-40B4-BE49-F238E27FC236}">
              <a16:creationId xmlns:a16="http://schemas.microsoft.com/office/drawing/2014/main" id="{D2405757-9FB5-0334-36AD-FE519714E956}"/>
            </a:ext>
          </a:extLst>
        </cdr:cNvPr>
        <cdr:cNvSpPr txBox="1"/>
      </cdr:nvSpPr>
      <cdr:spPr>
        <a:xfrm xmlns:a="http://schemas.openxmlformats.org/drawingml/2006/main">
          <a:off x="1590040" y="477520"/>
          <a:ext cx="513080" cy="19304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12,118</a:t>
          </a:r>
          <a:endParaRPr lang="en-US" sz="1100" kern="1200" dirty="0"/>
        </a:p>
      </cdr:txBody>
    </cdr:sp>
  </cdr:relSizeAnchor>
  <cdr:relSizeAnchor xmlns:cdr="http://schemas.openxmlformats.org/drawingml/2006/chartDrawing">
    <cdr:from>
      <cdr:x>0.49383</cdr:x>
      <cdr:y>0.18582</cdr:y>
    </cdr:from>
    <cdr:to>
      <cdr:x>0.61975</cdr:x>
      <cdr:y>0.2682</cdr:y>
    </cdr:to>
    <cdr:sp macro="" textlink="">
      <cdr:nvSpPr>
        <cdr:cNvPr id="8" name="TextBox 7">
          <a:extLst xmlns:a="http://schemas.openxmlformats.org/drawingml/2006/main">
            <a:ext uri="{FF2B5EF4-FFF2-40B4-BE49-F238E27FC236}">
              <a16:creationId xmlns:a16="http://schemas.microsoft.com/office/drawing/2014/main" id="{B26F3AA6-1D3E-3F3A-A0F9-B218DF27C774}"/>
            </a:ext>
          </a:extLst>
        </cdr:cNvPr>
        <cdr:cNvSpPr txBox="1"/>
      </cdr:nvSpPr>
      <cdr:spPr>
        <a:xfrm xmlns:a="http://schemas.openxmlformats.org/drawingml/2006/main">
          <a:off x="2032000" y="492760"/>
          <a:ext cx="518160" cy="21844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11,699</a:t>
          </a:r>
          <a:endParaRPr lang="en-US" sz="1100" kern="1200" dirty="0"/>
        </a:p>
      </cdr:txBody>
    </cdr:sp>
  </cdr:relSizeAnchor>
  <cdr:relSizeAnchor xmlns:cdr="http://schemas.openxmlformats.org/drawingml/2006/chartDrawing">
    <cdr:from>
      <cdr:x>0.61481</cdr:x>
      <cdr:y>0.24904</cdr:y>
    </cdr:from>
    <cdr:to>
      <cdr:x>0.7321</cdr:x>
      <cdr:y>0.32567</cdr:y>
    </cdr:to>
    <cdr:sp macro="" textlink="">
      <cdr:nvSpPr>
        <cdr:cNvPr id="9" name="TextBox 8">
          <a:extLst xmlns:a="http://schemas.openxmlformats.org/drawingml/2006/main">
            <a:ext uri="{FF2B5EF4-FFF2-40B4-BE49-F238E27FC236}">
              <a16:creationId xmlns:a16="http://schemas.microsoft.com/office/drawing/2014/main" id="{9BE2ED57-A5E8-399F-151C-85B9547E0FC8}"/>
            </a:ext>
          </a:extLst>
        </cdr:cNvPr>
        <cdr:cNvSpPr txBox="1"/>
      </cdr:nvSpPr>
      <cdr:spPr>
        <a:xfrm xmlns:a="http://schemas.openxmlformats.org/drawingml/2006/main">
          <a:off x="2529840" y="660400"/>
          <a:ext cx="482600" cy="2032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10,528</a:t>
          </a:r>
          <a:endParaRPr lang="en-US" sz="1100" kern="1200" dirty="0"/>
        </a:p>
      </cdr:txBody>
    </cdr:sp>
  </cdr:relSizeAnchor>
  <cdr:relSizeAnchor xmlns:cdr="http://schemas.openxmlformats.org/drawingml/2006/chartDrawing">
    <cdr:from>
      <cdr:x>0.73704</cdr:x>
      <cdr:y>0.29502</cdr:y>
    </cdr:from>
    <cdr:to>
      <cdr:x>0.86173</cdr:x>
      <cdr:y>0.3908</cdr:y>
    </cdr:to>
    <cdr:sp macro="" textlink="">
      <cdr:nvSpPr>
        <cdr:cNvPr id="10" name="TextBox 9">
          <a:extLst xmlns:a="http://schemas.openxmlformats.org/drawingml/2006/main">
            <a:ext uri="{FF2B5EF4-FFF2-40B4-BE49-F238E27FC236}">
              <a16:creationId xmlns:a16="http://schemas.microsoft.com/office/drawing/2014/main" id="{0FEF54EE-BB71-E79F-D5AA-CFDA0FCE5E78}"/>
            </a:ext>
          </a:extLst>
        </cdr:cNvPr>
        <cdr:cNvSpPr txBox="1"/>
      </cdr:nvSpPr>
      <cdr:spPr>
        <a:xfrm xmlns:a="http://schemas.openxmlformats.org/drawingml/2006/main">
          <a:off x="3032760" y="782320"/>
          <a:ext cx="513080" cy="2540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9,387</a:t>
          </a:r>
        </a:p>
      </cdr:txBody>
    </cdr:sp>
  </cdr:relSizeAnchor>
  <cdr:relSizeAnchor xmlns:cdr="http://schemas.openxmlformats.org/drawingml/2006/chartDrawing">
    <cdr:from>
      <cdr:x>0.84568</cdr:x>
      <cdr:y>0.23563</cdr:y>
    </cdr:from>
    <cdr:to>
      <cdr:x>0.95556</cdr:x>
      <cdr:y>0.30843</cdr:y>
    </cdr:to>
    <cdr:sp macro="" textlink="">
      <cdr:nvSpPr>
        <cdr:cNvPr id="11" name="TextBox 10">
          <a:extLst xmlns:a="http://schemas.openxmlformats.org/drawingml/2006/main">
            <a:ext uri="{FF2B5EF4-FFF2-40B4-BE49-F238E27FC236}">
              <a16:creationId xmlns:a16="http://schemas.microsoft.com/office/drawing/2014/main" id="{6EE89C47-50A9-64B8-48DB-252601E510DF}"/>
            </a:ext>
          </a:extLst>
        </cdr:cNvPr>
        <cdr:cNvSpPr txBox="1"/>
      </cdr:nvSpPr>
      <cdr:spPr>
        <a:xfrm xmlns:a="http://schemas.openxmlformats.org/drawingml/2006/main">
          <a:off x="3479800" y="624840"/>
          <a:ext cx="452120" cy="19304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900" kern="1200" dirty="0"/>
            <a:t>10,842</a:t>
          </a:r>
          <a:endParaRPr lang="en-US" sz="1100"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5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E4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txBody>
          <a:bodyPr/>
          <a:lstStyle/>
          <a:p>
            <a:endParaRPr lang="en-US"/>
          </a:p>
        </p:txBody>
      </p:sp>
      <p:sp>
        <p:nvSpPr>
          <p:cNvPr id="3" name="Shape 1"/>
          <p:cNvSpPr/>
          <p:nvPr/>
        </p:nvSpPr>
        <p:spPr>
          <a:xfrm>
            <a:off x="0" y="4572000"/>
            <a:ext cx="9144000" cy="571500"/>
          </a:xfrm>
          <a:prstGeom prst="rect">
            <a:avLst/>
          </a:prstGeom>
          <a:solidFill>
            <a:srgbClr val="1A3A8F"/>
          </a:solidFill>
          <a:ln/>
        </p:spPr>
        <p:txBody>
          <a:bodyPr/>
          <a:lstStyle/>
          <a:p>
            <a:endParaRPr lang="en-US"/>
          </a:p>
        </p:txBody>
      </p:sp>
      <p:sp>
        <p:nvSpPr>
          <p:cNvPr id="4" name="Shape 2"/>
          <p:cNvSpPr/>
          <p:nvPr/>
        </p:nvSpPr>
        <p:spPr>
          <a:xfrm>
            <a:off x="6225415" y="-1088136"/>
            <a:ext cx="4572000" cy="4572000"/>
          </a:xfrm>
          <a:prstGeom prst="ellipse">
            <a:avLst/>
          </a:prstGeom>
          <a:solidFill>
            <a:srgbClr val="1A3A8F">
              <a:alpha val="50000"/>
            </a:srgbClr>
          </a:solidFill>
          <a:ln/>
        </p:spPr>
        <p:txBody>
          <a:bodyPr/>
          <a:lstStyle/>
          <a:p>
            <a:endParaRPr lang="en-US"/>
          </a:p>
        </p:txBody>
      </p:sp>
      <p:sp>
        <p:nvSpPr>
          <p:cNvPr id="5" name="Shape 3"/>
          <p:cNvSpPr/>
          <p:nvPr/>
        </p:nvSpPr>
        <p:spPr>
          <a:xfrm>
            <a:off x="6858000" y="274320"/>
            <a:ext cx="3200400" cy="3200400"/>
          </a:xfrm>
          <a:prstGeom prst="ellipse">
            <a:avLst/>
          </a:prstGeom>
          <a:solidFill>
            <a:srgbClr val="0D4A7A">
              <a:alpha val="60000"/>
            </a:srgbClr>
          </a:solidFill>
          <a:ln/>
        </p:spPr>
        <p:txBody>
          <a:bodyPr/>
          <a:lstStyle/>
          <a:p>
            <a:endParaRPr lang="en-US"/>
          </a:p>
        </p:txBody>
      </p:sp>
      <p:sp>
        <p:nvSpPr>
          <p:cNvPr id="6" name="Text 4"/>
          <p:cNvSpPr/>
          <p:nvPr/>
        </p:nvSpPr>
        <p:spPr>
          <a:xfrm>
            <a:off x="457200" y="731520"/>
            <a:ext cx="7315200" cy="640080"/>
          </a:xfrm>
          <a:prstGeom prst="rect">
            <a:avLst/>
          </a:prstGeom>
          <a:noFill/>
          <a:ln/>
        </p:spPr>
        <p:txBody>
          <a:bodyPr wrap="square" rtlCol="0" anchor="ctr"/>
          <a:lstStyle/>
          <a:p>
            <a:pPr marL="0" indent="0">
              <a:buNone/>
            </a:pPr>
            <a:r>
              <a:rPr lang="en-US" sz="1600" b="1" kern="0" spc="400" dirty="0">
                <a:solidFill>
                  <a:srgbClr val="0D9488"/>
                </a:solidFill>
              </a:rPr>
              <a:t>IndiGo Airlines</a:t>
            </a:r>
            <a:endParaRPr lang="en-US" sz="1600" dirty="0"/>
          </a:p>
        </p:txBody>
      </p:sp>
      <p:sp>
        <p:nvSpPr>
          <p:cNvPr id="7" name="Text 5"/>
          <p:cNvSpPr/>
          <p:nvPr/>
        </p:nvSpPr>
        <p:spPr>
          <a:xfrm>
            <a:off x="457200" y="1280160"/>
            <a:ext cx="6858000" cy="1645920"/>
          </a:xfrm>
          <a:prstGeom prst="rect">
            <a:avLst/>
          </a:prstGeom>
          <a:noFill/>
          <a:ln/>
        </p:spPr>
        <p:txBody>
          <a:bodyPr wrap="square" rtlCol="0" anchor="ctr"/>
          <a:lstStyle/>
          <a:p>
            <a:pPr marL="0" indent="0">
              <a:buNone/>
            </a:pPr>
            <a:r>
              <a:rPr lang="en-US" sz="4800" b="1" dirty="0">
                <a:solidFill>
                  <a:srgbClr val="FFFFFF"/>
                </a:solidFill>
              </a:rPr>
              <a:t>Booking Data</a:t>
            </a:r>
            <a:endParaRPr lang="en-US" sz="4800" dirty="0"/>
          </a:p>
          <a:p>
            <a:pPr marL="0" indent="0">
              <a:buNone/>
            </a:pPr>
            <a:r>
              <a:rPr lang="en-US" sz="4800" b="1" dirty="0">
                <a:solidFill>
                  <a:srgbClr val="FFFFFF"/>
                </a:solidFill>
              </a:rPr>
              <a:t>Analysis</a:t>
            </a:r>
            <a:endParaRPr lang="en-US" sz="4800" dirty="0"/>
          </a:p>
        </p:txBody>
      </p:sp>
      <p:sp>
        <p:nvSpPr>
          <p:cNvPr id="8" name="Text 6"/>
          <p:cNvSpPr/>
          <p:nvPr/>
        </p:nvSpPr>
        <p:spPr>
          <a:xfrm>
            <a:off x="457200" y="2880360"/>
            <a:ext cx="7772400" cy="457200"/>
          </a:xfrm>
          <a:prstGeom prst="rect">
            <a:avLst/>
          </a:prstGeom>
          <a:noFill/>
          <a:ln/>
        </p:spPr>
        <p:txBody>
          <a:bodyPr wrap="square" rtlCol="0" anchor="ctr"/>
          <a:lstStyle/>
          <a:p>
            <a:pPr marL="0" indent="0">
              <a:buNone/>
            </a:pPr>
            <a:r>
              <a:rPr lang="en-US" sz="1300" i="1" dirty="0">
                <a:solidFill>
                  <a:srgbClr val="AABCDD"/>
                </a:solidFill>
              </a:rPr>
              <a:t>Revenue Insights · Customer Behaviour · Operational Efficiency</a:t>
            </a:r>
            <a:endParaRPr lang="en-US" sz="1300" dirty="0"/>
          </a:p>
        </p:txBody>
      </p:sp>
      <p:sp>
        <p:nvSpPr>
          <p:cNvPr id="9" name="Shape 7"/>
          <p:cNvSpPr/>
          <p:nvPr/>
        </p:nvSpPr>
        <p:spPr>
          <a:xfrm>
            <a:off x="457200" y="3429000"/>
            <a:ext cx="2011680" cy="54864"/>
          </a:xfrm>
          <a:prstGeom prst="rect">
            <a:avLst/>
          </a:prstGeom>
          <a:solidFill>
            <a:srgbClr val="FBBF24"/>
          </a:solidFill>
          <a:ln/>
        </p:spPr>
        <p:txBody>
          <a:bodyPr/>
          <a:lstStyle/>
          <a:p>
            <a:endParaRPr lang="en-US"/>
          </a:p>
        </p:txBody>
      </p:sp>
      <p:sp>
        <p:nvSpPr>
          <p:cNvPr id="10" name="Text 8"/>
          <p:cNvSpPr/>
          <p:nvPr/>
        </p:nvSpPr>
        <p:spPr>
          <a:xfrm>
            <a:off x="457200" y="3657600"/>
            <a:ext cx="8229600" cy="365760"/>
          </a:xfrm>
          <a:prstGeom prst="rect">
            <a:avLst/>
          </a:prstGeom>
          <a:noFill/>
          <a:ln/>
        </p:spPr>
        <p:txBody>
          <a:bodyPr wrap="square" rtlCol="0" anchor="ctr"/>
          <a:lstStyle/>
          <a:p>
            <a:pPr marL="0" indent="0">
              <a:buNone/>
            </a:pPr>
            <a:r>
              <a:rPr lang="en-US" sz="1000" b="1" dirty="0">
                <a:solidFill>
                  <a:srgbClr val="AABCDD"/>
                </a:solidFill>
              </a:rPr>
              <a:t>Dataset: </a:t>
            </a:r>
            <a:r>
              <a:rPr lang="en-US" sz="1000" dirty="0">
                <a:solidFill>
                  <a:srgbClr val="AABCDD"/>
                </a:solidFill>
              </a:rPr>
              <a:t>51,201 booking records  |  36 variables  |  3 seat classes  |  2 sales channels</a:t>
            </a:r>
            <a:endParaRPr lang="en-US" sz="1000" dirty="0"/>
          </a:p>
        </p:txBody>
      </p:sp>
      <p:sp>
        <p:nvSpPr>
          <p:cNvPr id="11" name="Text 9"/>
          <p:cNvSpPr/>
          <p:nvPr/>
        </p:nvSpPr>
        <p:spPr>
          <a:xfrm>
            <a:off x="457200" y="4617720"/>
            <a:ext cx="8229600" cy="411480"/>
          </a:xfrm>
          <a:prstGeom prst="rect">
            <a:avLst/>
          </a:prstGeom>
          <a:noFill/>
          <a:ln/>
        </p:spPr>
        <p:txBody>
          <a:bodyPr wrap="square" rtlCol="0" anchor="ctr"/>
          <a:lstStyle/>
          <a:p>
            <a:pPr marL="0" indent="0">
              <a:buNone/>
            </a:pPr>
            <a:endParaRPr lang="en-US" sz="900" dirty="0"/>
          </a:p>
        </p:txBody>
      </p:sp>
      <p:pic>
        <p:nvPicPr>
          <p:cNvPr id="1032" name="Picture 8" descr="IndiGo Light &amp; Dark Logo (Updated 2026) — Airhex">
            <a:extLst>
              <a:ext uri="{FF2B5EF4-FFF2-40B4-BE49-F238E27FC236}">
                <a16:creationId xmlns:a16="http://schemas.microsoft.com/office/drawing/2014/main" id="{82212ED9-8024-BABE-5E12-9CE489867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8580"/>
            <a:ext cx="1600200" cy="457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a:effectLst/>
      </p:bgPr>
    </p:bg>
    <p:spTree>
      <p:nvGrpSpPr>
        <p:cNvPr id="1" name=""/>
        <p:cNvGrpSpPr/>
        <p:nvPr/>
      </p:nvGrpSpPr>
      <p:grpSpPr>
        <a:xfrm>
          <a:off x="0" y="0"/>
          <a:ext cx="0" cy="0"/>
          <a:chOff x="0" y="0"/>
          <a:chExt cx="0" cy="0"/>
        </a:xfrm>
      </p:grpSpPr>
      <p:sp>
        <p:nvSpPr>
          <p:cNvPr id="21" name="Shape 19"/>
          <p:cNvSpPr/>
          <p:nvPr/>
        </p:nvSpPr>
        <p:spPr>
          <a:xfrm>
            <a:off x="2450895" y="2441619"/>
            <a:ext cx="2056896" cy="1280160"/>
          </a:xfrm>
          <a:prstGeom prst="rect">
            <a:avLst/>
          </a:prstGeom>
          <a:solidFill>
            <a:srgbClr val="1E3A6E"/>
          </a:solidFill>
          <a:ln/>
          <a:effectLst>
            <a:outerShdw blurRad="101600" dist="38100" dir="8100000" algn="bl" rotWithShape="0">
              <a:srgbClr val="000000">
                <a:alpha val="12000"/>
              </a:srgbClr>
            </a:outerShdw>
          </a:effectLst>
        </p:spPr>
        <p:txBody>
          <a:bodyPr/>
          <a:lstStyle/>
          <a:p>
            <a:endParaRPr lang="en-US"/>
          </a:p>
        </p:txBody>
      </p:sp>
      <p:sp>
        <p:nvSpPr>
          <p:cNvPr id="37" name="Text 20">
            <a:extLst>
              <a:ext uri="{FF2B5EF4-FFF2-40B4-BE49-F238E27FC236}">
                <a16:creationId xmlns:a16="http://schemas.microsoft.com/office/drawing/2014/main" id="{E87CE47E-199B-9712-923B-8A3B4691D376}"/>
              </a:ext>
            </a:extLst>
          </p:cNvPr>
          <p:cNvSpPr/>
          <p:nvPr/>
        </p:nvSpPr>
        <p:spPr>
          <a:xfrm>
            <a:off x="2379700" y="2462144"/>
            <a:ext cx="2194560" cy="640080"/>
          </a:xfrm>
          <a:prstGeom prst="rect">
            <a:avLst/>
          </a:prstGeom>
          <a:noFill/>
          <a:ln/>
        </p:spPr>
        <p:txBody>
          <a:bodyPr wrap="square" lIns="0" tIns="0" rIns="0" bIns="0" rtlCol="0" anchor="ctr"/>
          <a:lstStyle/>
          <a:p>
            <a:pPr marL="0" indent="0" algn="ctr">
              <a:buNone/>
            </a:pPr>
            <a:r>
              <a:rPr lang="en-US" sz="2600" b="1" dirty="0">
                <a:solidFill>
                  <a:schemeClr val="bg2"/>
                </a:solidFill>
              </a:rPr>
              <a:t>₹30,995</a:t>
            </a:r>
            <a:endParaRPr lang="en-US" sz="2600" dirty="0">
              <a:solidFill>
                <a:schemeClr val="bg2"/>
              </a:solidFill>
            </a:endParaRPr>
          </a:p>
        </p:txBody>
      </p:sp>
      <p:sp>
        <p:nvSpPr>
          <p:cNvPr id="38" name="Text 21">
            <a:extLst>
              <a:ext uri="{FF2B5EF4-FFF2-40B4-BE49-F238E27FC236}">
                <a16:creationId xmlns:a16="http://schemas.microsoft.com/office/drawing/2014/main" id="{AB66FC28-FD2A-D3C0-0DF6-DE1EED271A46}"/>
              </a:ext>
            </a:extLst>
          </p:cNvPr>
          <p:cNvSpPr/>
          <p:nvPr/>
        </p:nvSpPr>
        <p:spPr>
          <a:xfrm>
            <a:off x="2333980" y="3036387"/>
            <a:ext cx="2286000" cy="320040"/>
          </a:xfrm>
          <a:prstGeom prst="rect">
            <a:avLst/>
          </a:prstGeom>
          <a:noFill/>
          <a:ln/>
        </p:spPr>
        <p:txBody>
          <a:bodyPr wrap="square" lIns="0" tIns="0" rIns="0" bIns="0" rtlCol="0" anchor="ctr"/>
          <a:lstStyle/>
          <a:p>
            <a:pPr marL="0" indent="0" algn="ctr">
              <a:buNone/>
            </a:pPr>
            <a:r>
              <a:rPr lang="en-US" sz="1000" b="1" dirty="0">
                <a:solidFill>
                  <a:schemeClr val="bg2"/>
                </a:solidFill>
              </a:rPr>
              <a:t>Avg Booking Amt. – Business class</a:t>
            </a:r>
            <a:endParaRPr lang="en-US" sz="1000" dirty="0">
              <a:solidFill>
                <a:schemeClr val="bg2"/>
              </a:solidFill>
            </a:endParaRPr>
          </a:p>
        </p:txBody>
      </p:sp>
      <p:sp>
        <p:nvSpPr>
          <p:cNvPr id="39" name="Text 22">
            <a:extLst>
              <a:ext uri="{FF2B5EF4-FFF2-40B4-BE49-F238E27FC236}">
                <a16:creationId xmlns:a16="http://schemas.microsoft.com/office/drawing/2014/main" id="{943D6E29-FBA6-C3B9-28D8-5053A2054503}"/>
              </a:ext>
            </a:extLst>
          </p:cNvPr>
          <p:cNvSpPr/>
          <p:nvPr/>
        </p:nvSpPr>
        <p:spPr>
          <a:xfrm>
            <a:off x="2333980" y="3343626"/>
            <a:ext cx="2286000" cy="256032"/>
          </a:xfrm>
          <a:prstGeom prst="rect">
            <a:avLst/>
          </a:prstGeom>
          <a:noFill/>
          <a:ln/>
        </p:spPr>
        <p:txBody>
          <a:bodyPr wrap="square" lIns="0" tIns="0" rIns="0" bIns="0" rtlCol="0" anchor="ctr"/>
          <a:lstStyle/>
          <a:p>
            <a:pPr marL="0" indent="0" algn="ctr">
              <a:buNone/>
            </a:pPr>
            <a:r>
              <a:rPr lang="en-US" sz="850" i="1" dirty="0">
                <a:solidFill>
                  <a:schemeClr val="bg2"/>
                </a:solidFill>
              </a:rPr>
              <a:t>Highest revenue per passenger out of 7,442</a:t>
            </a:r>
            <a:endParaRPr lang="en-US" sz="850" dirty="0">
              <a:solidFill>
                <a:schemeClr val="bg2"/>
              </a:solidFill>
            </a:endParaRPr>
          </a:p>
        </p:txBody>
      </p:sp>
      <p:sp>
        <p:nvSpPr>
          <p:cNvPr id="40" name="Shape 19">
            <a:extLst>
              <a:ext uri="{FF2B5EF4-FFF2-40B4-BE49-F238E27FC236}">
                <a16:creationId xmlns:a16="http://schemas.microsoft.com/office/drawing/2014/main" id="{FBA6A7C9-FD50-9F20-DFAC-95396CE59A2F}"/>
              </a:ext>
            </a:extLst>
          </p:cNvPr>
          <p:cNvSpPr/>
          <p:nvPr/>
        </p:nvSpPr>
        <p:spPr>
          <a:xfrm>
            <a:off x="193857" y="2449932"/>
            <a:ext cx="2056896" cy="1280160"/>
          </a:xfrm>
          <a:prstGeom prst="rect">
            <a:avLst/>
          </a:prstGeom>
          <a:solidFill>
            <a:srgbClr val="1E3A6E"/>
          </a:solidFill>
          <a:ln/>
          <a:effectLst>
            <a:outerShdw blurRad="101600" dist="38100" dir="8100000" algn="bl" rotWithShape="0">
              <a:srgbClr val="000000">
                <a:alpha val="12000"/>
              </a:srgbClr>
            </a:outerShdw>
          </a:effectLst>
        </p:spPr>
        <p:txBody>
          <a:bodyPr/>
          <a:lstStyle/>
          <a:p>
            <a:endParaRPr lang="en-US"/>
          </a:p>
        </p:txBody>
      </p:sp>
      <p:sp>
        <p:nvSpPr>
          <p:cNvPr id="2" name="Shape 0"/>
          <p:cNvSpPr/>
          <p:nvPr/>
        </p:nvSpPr>
        <p:spPr>
          <a:xfrm>
            <a:off x="0" y="0"/>
            <a:ext cx="9144000" cy="685800"/>
          </a:xfrm>
          <a:prstGeom prst="rect">
            <a:avLst/>
          </a:prstGeom>
          <a:solidFill>
            <a:srgbClr val="0A1E4E"/>
          </a:solidFill>
          <a:ln/>
        </p:spPr>
        <p:txBody>
          <a:bodyPr/>
          <a:lstStyle/>
          <a:p>
            <a:endParaRPr lang="en-US" dirty="0"/>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Executive Summary</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Key Performance Indicators</a:t>
            </a:r>
            <a:endParaRPr lang="en-US" sz="1000" dirty="0"/>
          </a:p>
        </p:txBody>
      </p:sp>
      <p:sp>
        <p:nvSpPr>
          <p:cNvPr id="5" name="Shape 3"/>
          <p:cNvSpPr/>
          <p:nvPr/>
        </p:nvSpPr>
        <p:spPr>
          <a:xfrm>
            <a:off x="228600" y="822960"/>
            <a:ext cx="2011680" cy="1280160"/>
          </a:xfrm>
          <a:prstGeom prst="rect">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65760" y="914400"/>
            <a:ext cx="1737360" cy="640080"/>
          </a:xfrm>
          <a:prstGeom prst="rect">
            <a:avLst/>
          </a:prstGeom>
          <a:noFill/>
          <a:ln/>
        </p:spPr>
        <p:txBody>
          <a:bodyPr wrap="square" lIns="0" tIns="0" rIns="0" bIns="0" rtlCol="0" anchor="ctr"/>
          <a:lstStyle/>
          <a:p>
            <a:pPr marL="0" indent="0" algn="ctr">
              <a:buNone/>
            </a:pPr>
            <a:r>
              <a:rPr lang="en-US" sz="2600" b="1" dirty="0">
                <a:solidFill>
                  <a:srgbClr val="FFFFFF"/>
                </a:solidFill>
              </a:rPr>
              <a:t>₹18.34 Cr</a:t>
            </a:r>
            <a:endParaRPr lang="en-US" sz="2600" dirty="0"/>
          </a:p>
        </p:txBody>
      </p:sp>
      <p:sp>
        <p:nvSpPr>
          <p:cNvPr id="7" name="Text 5"/>
          <p:cNvSpPr/>
          <p:nvPr/>
        </p:nvSpPr>
        <p:spPr>
          <a:xfrm>
            <a:off x="320040" y="1488643"/>
            <a:ext cx="1828800" cy="320040"/>
          </a:xfrm>
          <a:prstGeom prst="rect">
            <a:avLst/>
          </a:prstGeom>
          <a:noFill/>
          <a:ln/>
        </p:spPr>
        <p:txBody>
          <a:bodyPr wrap="square" lIns="0" tIns="0" rIns="0" bIns="0" rtlCol="0" anchor="ctr"/>
          <a:lstStyle/>
          <a:p>
            <a:pPr marL="0" indent="0" algn="ctr">
              <a:buNone/>
            </a:pPr>
            <a:r>
              <a:rPr lang="en-US" sz="1000" b="1" dirty="0">
                <a:solidFill>
                  <a:srgbClr val="AABCDD"/>
                </a:solidFill>
              </a:rPr>
              <a:t>Total Revenue</a:t>
            </a:r>
            <a:endParaRPr lang="en-US" sz="1000" dirty="0"/>
          </a:p>
        </p:txBody>
      </p:sp>
      <p:sp>
        <p:nvSpPr>
          <p:cNvPr id="8" name="Text 6"/>
          <p:cNvSpPr/>
          <p:nvPr/>
        </p:nvSpPr>
        <p:spPr>
          <a:xfrm>
            <a:off x="320040" y="1795882"/>
            <a:ext cx="1828800" cy="256032"/>
          </a:xfrm>
          <a:prstGeom prst="rect">
            <a:avLst/>
          </a:prstGeom>
          <a:noFill/>
          <a:ln/>
        </p:spPr>
        <p:txBody>
          <a:bodyPr wrap="square" lIns="0" tIns="0" rIns="0" bIns="0" rtlCol="0" anchor="ctr"/>
          <a:lstStyle/>
          <a:p>
            <a:pPr marL="0" indent="0" algn="ctr">
              <a:buNone/>
            </a:pPr>
            <a:r>
              <a:rPr lang="en-US" sz="850" i="1" dirty="0">
                <a:solidFill>
                  <a:srgbClr val="AABCDD"/>
                </a:solidFill>
              </a:rPr>
              <a:t>Booking amount across 50K records</a:t>
            </a:r>
            <a:endParaRPr lang="en-US" sz="850" dirty="0"/>
          </a:p>
        </p:txBody>
      </p:sp>
      <p:sp>
        <p:nvSpPr>
          <p:cNvPr id="9" name="Shape 7"/>
          <p:cNvSpPr/>
          <p:nvPr/>
        </p:nvSpPr>
        <p:spPr>
          <a:xfrm>
            <a:off x="2468880" y="822960"/>
            <a:ext cx="2011680" cy="1280160"/>
          </a:xfrm>
          <a:prstGeom prst="rect">
            <a:avLst/>
          </a:prstGeom>
          <a:solidFill>
            <a:srgbClr val="0D9488"/>
          </a:solidFill>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2606040" y="914400"/>
            <a:ext cx="1737360" cy="640080"/>
          </a:xfrm>
          <a:prstGeom prst="rect">
            <a:avLst/>
          </a:prstGeom>
          <a:noFill/>
          <a:ln/>
        </p:spPr>
        <p:txBody>
          <a:bodyPr wrap="square" lIns="0" tIns="0" rIns="0" bIns="0" rtlCol="0" anchor="ctr"/>
          <a:lstStyle/>
          <a:p>
            <a:pPr marL="0" indent="0" algn="ctr">
              <a:buNone/>
            </a:pPr>
            <a:r>
              <a:rPr lang="en-US" sz="2600" b="1" dirty="0">
                <a:solidFill>
                  <a:srgbClr val="FFFFFF"/>
                </a:solidFill>
              </a:rPr>
              <a:t>14.89%</a:t>
            </a:r>
            <a:endParaRPr lang="en-US" sz="2600" dirty="0"/>
          </a:p>
        </p:txBody>
      </p:sp>
      <p:sp>
        <p:nvSpPr>
          <p:cNvPr id="11" name="Text 9"/>
          <p:cNvSpPr/>
          <p:nvPr/>
        </p:nvSpPr>
        <p:spPr>
          <a:xfrm>
            <a:off x="2560320" y="1488643"/>
            <a:ext cx="1828800" cy="320040"/>
          </a:xfrm>
          <a:prstGeom prst="rect">
            <a:avLst/>
          </a:prstGeom>
          <a:noFill/>
          <a:ln/>
        </p:spPr>
        <p:txBody>
          <a:bodyPr wrap="square" lIns="0" tIns="0" rIns="0" bIns="0" rtlCol="0" anchor="ctr"/>
          <a:lstStyle/>
          <a:p>
            <a:pPr marL="0" indent="0" algn="ctr">
              <a:buNone/>
            </a:pPr>
            <a:r>
              <a:rPr lang="en-US" sz="1000" b="1" dirty="0">
                <a:solidFill>
                  <a:srgbClr val="CCFBF1"/>
                </a:solidFill>
              </a:rPr>
              <a:t>Booking Conversion Rate</a:t>
            </a:r>
            <a:endParaRPr lang="en-US" sz="1000" dirty="0"/>
          </a:p>
        </p:txBody>
      </p:sp>
      <p:sp>
        <p:nvSpPr>
          <p:cNvPr id="12" name="Text 10"/>
          <p:cNvSpPr/>
          <p:nvPr/>
        </p:nvSpPr>
        <p:spPr>
          <a:xfrm>
            <a:off x="2560320" y="1795882"/>
            <a:ext cx="1828800" cy="256032"/>
          </a:xfrm>
          <a:prstGeom prst="rect">
            <a:avLst/>
          </a:prstGeom>
          <a:noFill/>
          <a:ln/>
        </p:spPr>
        <p:txBody>
          <a:bodyPr wrap="square" lIns="0" tIns="0" rIns="0" bIns="0" rtlCol="0" anchor="ctr"/>
          <a:lstStyle/>
          <a:p>
            <a:pPr marL="0" indent="0" algn="ctr">
              <a:buNone/>
            </a:pPr>
            <a:r>
              <a:rPr lang="en-US" sz="850" i="1" dirty="0">
                <a:solidFill>
                  <a:srgbClr val="CCFBF1"/>
                </a:solidFill>
              </a:rPr>
              <a:t>7,442 completed of 49,964</a:t>
            </a:r>
            <a:endParaRPr lang="en-US" sz="850" dirty="0"/>
          </a:p>
        </p:txBody>
      </p:sp>
      <p:sp>
        <p:nvSpPr>
          <p:cNvPr id="13" name="Shape 11"/>
          <p:cNvSpPr/>
          <p:nvPr/>
        </p:nvSpPr>
        <p:spPr>
          <a:xfrm>
            <a:off x="4709160" y="822960"/>
            <a:ext cx="2011680" cy="1280160"/>
          </a:xfrm>
          <a:prstGeom prst="rect">
            <a:avLst/>
          </a:prstGeom>
          <a:solidFill>
            <a:srgbClr val="F97316"/>
          </a:solidFill>
          <a:ln/>
          <a:effectLst>
            <a:outerShdw blurRad="101600" dist="38100" dir="8100000" algn="bl" rotWithShape="0">
              <a:srgbClr val="000000">
                <a:alpha val="12000"/>
              </a:srgbClr>
            </a:outerShdw>
          </a:effectLst>
        </p:spPr>
        <p:txBody>
          <a:bodyPr/>
          <a:lstStyle/>
          <a:p>
            <a:endParaRPr lang="en-US" dirty="0"/>
          </a:p>
        </p:txBody>
      </p:sp>
      <p:sp>
        <p:nvSpPr>
          <p:cNvPr id="14" name="Text 12"/>
          <p:cNvSpPr/>
          <p:nvPr/>
        </p:nvSpPr>
        <p:spPr>
          <a:xfrm>
            <a:off x="4846320" y="914400"/>
            <a:ext cx="1737360" cy="640080"/>
          </a:xfrm>
          <a:prstGeom prst="rect">
            <a:avLst/>
          </a:prstGeom>
          <a:noFill/>
          <a:ln/>
        </p:spPr>
        <p:txBody>
          <a:bodyPr wrap="square" lIns="0" tIns="0" rIns="0" bIns="0" rtlCol="0" anchor="ctr"/>
          <a:lstStyle/>
          <a:p>
            <a:pPr marL="0" indent="0" algn="ctr">
              <a:buNone/>
            </a:pPr>
            <a:r>
              <a:rPr lang="en-US" sz="2600" b="1" dirty="0">
                <a:solidFill>
                  <a:srgbClr val="FFFFFF"/>
                </a:solidFill>
              </a:rPr>
              <a:t>₹24,521</a:t>
            </a:r>
            <a:endParaRPr lang="en-US" sz="2600" dirty="0"/>
          </a:p>
        </p:txBody>
      </p:sp>
      <p:sp>
        <p:nvSpPr>
          <p:cNvPr id="15" name="Text 13"/>
          <p:cNvSpPr/>
          <p:nvPr/>
        </p:nvSpPr>
        <p:spPr>
          <a:xfrm>
            <a:off x="4800600" y="1488643"/>
            <a:ext cx="1828800" cy="320040"/>
          </a:xfrm>
          <a:prstGeom prst="rect">
            <a:avLst/>
          </a:prstGeom>
          <a:noFill/>
          <a:ln/>
        </p:spPr>
        <p:txBody>
          <a:bodyPr wrap="square" lIns="0" tIns="0" rIns="0" bIns="0" rtlCol="0" anchor="ctr"/>
          <a:lstStyle/>
          <a:p>
            <a:pPr marL="0" indent="0" algn="ctr">
              <a:buNone/>
            </a:pPr>
            <a:r>
              <a:rPr lang="en-US" sz="1000" b="1" dirty="0">
                <a:solidFill>
                  <a:srgbClr val="FED7AA"/>
                </a:solidFill>
              </a:rPr>
              <a:t>Avg Booking Amount</a:t>
            </a:r>
            <a:endParaRPr lang="en-US" sz="1000" dirty="0"/>
          </a:p>
        </p:txBody>
      </p:sp>
      <p:sp>
        <p:nvSpPr>
          <p:cNvPr id="16" name="Text 14"/>
          <p:cNvSpPr/>
          <p:nvPr/>
        </p:nvSpPr>
        <p:spPr>
          <a:xfrm>
            <a:off x="4800600" y="1795882"/>
            <a:ext cx="1828800" cy="256032"/>
          </a:xfrm>
          <a:prstGeom prst="rect">
            <a:avLst/>
          </a:prstGeom>
          <a:noFill/>
          <a:ln/>
        </p:spPr>
        <p:txBody>
          <a:bodyPr wrap="square" lIns="0" tIns="0" rIns="0" bIns="0" rtlCol="0" anchor="ctr"/>
          <a:lstStyle/>
          <a:p>
            <a:pPr marL="0" indent="0" algn="ctr">
              <a:buNone/>
            </a:pPr>
            <a:r>
              <a:rPr lang="en-US" sz="850" i="1" dirty="0">
                <a:solidFill>
                  <a:srgbClr val="FED7AA"/>
                </a:solidFill>
              </a:rPr>
              <a:t>Per completed booking out of 7,442</a:t>
            </a:r>
            <a:endParaRPr lang="en-US" sz="850" dirty="0"/>
          </a:p>
        </p:txBody>
      </p:sp>
      <p:sp>
        <p:nvSpPr>
          <p:cNvPr id="17" name="Shape 15"/>
          <p:cNvSpPr/>
          <p:nvPr/>
        </p:nvSpPr>
        <p:spPr>
          <a:xfrm>
            <a:off x="6949440" y="822960"/>
            <a:ext cx="2011680" cy="1280160"/>
          </a:xfrm>
          <a:prstGeom prst="rect">
            <a:avLst/>
          </a:prstGeom>
          <a:solidFill>
            <a:srgbClr val="1E293B"/>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7086600" y="914400"/>
            <a:ext cx="1737360" cy="640080"/>
          </a:xfrm>
          <a:prstGeom prst="rect">
            <a:avLst/>
          </a:prstGeom>
          <a:noFill/>
          <a:ln/>
        </p:spPr>
        <p:txBody>
          <a:bodyPr wrap="square" lIns="0" tIns="0" rIns="0" bIns="0" rtlCol="0" anchor="ctr"/>
          <a:lstStyle/>
          <a:p>
            <a:pPr marL="0" indent="0" algn="ctr">
              <a:buNone/>
            </a:pPr>
            <a:r>
              <a:rPr lang="en-US" sz="2600" b="1" dirty="0">
                <a:solidFill>
                  <a:srgbClr val="FFFFFF"/>
                </a:solidFill>
              </a:rPr>
              <a:t>51,201</a:t>
            </a:r>
            <a:endParaRPr lang="en-US" sz="2600" dirty="0"/>
          </a:p>
        </p:txBody>
      </p:sp>
      <p:sp>
        <p:nvSpPr>
          <p:cNvPr id="19" name="Text 17"/>
          <p:cNvSpPr/>
          <p:nvPr/>
        </p:nvSpPr>
        <p:spPr>
          <a:xfrm>
            <a:off x="7040880" y="1488643"/>
            <a:ext cx="1828800" cy="320040"/>
          </a:xfrm>
          <a:prstGeom prst="rect">
            <a:avLst/>
          </a:prstGeom>
          <a:noFill/>
          <a:ln/>
        </p:spPr>
        <p:txBody>
          <a:bodyPr wrap="square" lIns="0" tIns="0" rIns="0" bIns="0" rtlCol="0" anchor="ctr"/>
          <a:lstStyle/>
          <a:p>
            <a:pPr marL="0" indent="0" algn="ctr">
              <a:buNone/>
            </a:pPr>
            <a:r>
              <a:rPr lang="en-US" sz="1000" b="1" dirty="0">
                <a:solidFill>
                  <a:srgbClr val="94A3B8"/>
                </a:solidFill>
              </a:rPr>
              <a:t>Total Records</a:t>
            </a:r>
            <a:endParaRPr lang="en-US" sz="1000" dirty="0"/>
          </a:p>
        </p:txBody>
      </p:sp>
      <p:sp>
        <p:nvSpPr>
          <p:cNvPr id="20" name="Text 18"/>
          <p:cNvSpPr/>
          <p:nvPr/>
        </p:nvSpPr>
        <p:spPr>
          <a:xfrm>
            <a:off x="7040880" y="1795882"/>
            <a:ext cx="1828800" cy="256032"/>
          </a:xfrm>
          <a:prstGeom prst="rect">
            <a:avLst/>
          </a:prstGeom>
          <a:noFill/>
          <a:ln/>
        </p:spPr>
        <p:txBody>
          <a:bodyPr wrap="square" lIns="0" tIns="0" rIns="0" bIns="0" rtlCol="0" anchor="ctr"/>
          <a:lstStyle/>
          <a:p>
            <a:pPr marL="0" indent="0" algn="ctr">
              <a:buNone/>
            </a:pPr>
            <a:r>
              <a:rPr lang="en-US" sz="850" i="1" dirty="0">
                <a:solidFill>
                  <a:srgbClr val="94A3B8"/>
                </a:solidFill>
              </a:rPr>
              <a:t>Multi-channel, 3 seat classes</a:t>
            </a:r>
            <a:endParaRPr lang="en-US" sz="850" dirty="0"/>
          </a:p>
        </p:txBody>
      </p:sp>
      <p:sp>
        <p:nvSpPr>
          <p:cNvPr id="22" name="Text 20"/>
          <p:cNvSpPr/>
          <p:nvPr/>
        </p:nvSpPr>
        <p:spPr>
          <a:xfrm>
            <a:off x="78073" y="2481682"/>
            <a:ext cx="2194560" cy="640080"/>
          </a:xfrm>
          <a:prstGeom prst="rect">
            <a:avLst/>
          </a:prstGeom>
          <a:noFill/>
          <a:ln/>
        </p:spPr>
        <p:txBody>
          <a:bodyPr wrap="square" lIns="0" tIns="0" rIns="0" bIns="0" rtlCol="0" anchor="ctr"/>
          <a:lstStyle/>
          <a:p>
            <a:pPr marL="0" indent="0" algn="ctr">
              <a:buNone/>
            </a:pPr>
            <a:r>
              <a:rPr lang="en-US" sz="2600" b="1" dirty="0">
                <a:solidFill>
                  <a:srgbClr val="FBBF24"/>
                </a:solidFill>
              </a:rPr>
              <a:t>₹4,609</a:t>
            </a:r>
            <a:endParaRPr lang="en-US" sz="2600" dirty="0"/>
          </a:p>
        </p:txBody>
      </p:sp>
      <p:sp>
        <p:nvSpPr>
          <p:cNvPr id="23" name="Text 21"/>
          <p:cNvSpPr/>
          <p:nvPr/>
        </p:nvSpPr>
        <p:spPr>
          <a:xfrm>
            <a:off x="32353" y="3055925"/>
            <a:ext cx="2286000" cy="320040"/>
          </a:xfrm>
          <a:prstGeom prst="rect">
            <a:avLst/>
          </a:prstGeom>
          <a:noFill/>
          <a:ln/>
        </p:spPr>
        <p:txBody>
          <a:bodyPr wrap="square" lIns="0" tIns="0" rIns="0" bIns="0" rtlCol="0" anchor="ctr"/>
          <a:lstStyle/>
          <a:p>
            <a:pPr marL="0" indent="0" algn="ctr">
              <a:buNone/>
            </a:pPr>
            <a:r>
              <a:rPr lang="en-US" sz="1000" b="1" dirty="0">
                <a:solidFill>
                  <a:srgbClr val="FBBF24"/>
                </a:solidFill>
              </a:rPr>
              <a:t>Avg Booking Amt.  – Business class</a:t>
            </a:r>
            <a:endParaRPr lang="en-US" sz="1000" dirty="0"/>
          </a:p>
        </p:txBody>
      </p:sp>
      <p:sp>
        <p:nvSpPr>
          <p:cNvPr id="24" name="Text 22"/>
          <p:cNvSpPr/>
          <p:nvPr/>
        </p:nvSpPr>
        <p:spPr>
          <a:xfrm>
            <a:off x="32353" y="3363164"/>
            <a:ext cx="2286000" cy="256032"/>
          </a:xfrm>
          <a:prstGeom prst="rect">
            <a:avLst/>
          </a:prstGeom>
          <a:noFill/>
          <a:ln/>
        </p:spPr>
        <p:txBody>
          <a:bodyPr wrap="square" lIns="0" tIns="0" rIns="0" bIns="0" rtlCol="0" anchor="ctr"/>
          <a:lstStyle/>
          <a:p>
            <a:pPr marL="0" indent="0" algn="ctr">
              <a:buNone/>
            </a:pPr>
            <a:r>
              <a:rPr lang="en-US" sz="850" i="1" dirty="0">
                <a:solidFill>
                  <a:srgbClr val="FBBF24"/>
                </a:solidFill>
              </a:rPr>
              <a:t>Highest revenue per passenger out of 50K</a:t>
            </a:r>
            <a:endParaRPr lang="en-US" sz="850" dirty="0"/>
          </a:p>
        </p:txBody>
      </p:sp>
      <p:sp>
        <p:nvSpPr>
          <p:cNvPr id="25" name="Shape 23"/>
          <p:cNvSpPr/>
          <p:nvPr/>
        </p:nvSpPr>
        <p:spPr>
          <a:xfrm>
            <a:off x="4709542" y="2438302"/>
            <a:ext cx="2011680" cy="1280160"/>
          </a:xfrm>
          <a:prstGeom prst="rect">
            <a:avLst/>
          </a:prstGeom>
          <a:solidFill>
            <a:srgbClr val="0A4A40"/>
          </a:solidFill>
          <a:ln/>
          <a:effectLst>
            <a:outerShdw blurRad="101600" dist="38100" dir="8100000" algn="bl" rotWithShape="0">
              <a:srgbClr val="000000">
                <a:alpha val="12000"/>
              </a:srgbClr>
            </a:outerShdw>
          </a:effectLst>
        </p:spPr>
        <p:txBody>
          <a:bodyPr/>
          <a:lstStyle/>
          <a:p>
            <a:endParaRPr lang="en-US"/>
          </a:p>
        </p:txBody>
      </p:sp>
      <p:sp>
        <p:nvSpPr>
          <p:cNvPr id="26" name="Text 24"/>
          <p:cNvSpPr/>
          <p:nvPr/>
        </p:nvSpPr>
        <p:spPr>
          <a:xfrm>
            <a:off x="4648192" y="2516941"/>
            <a:ext cx="2194560" cy="640080"/>
          </a:xfrm>
          <a:prstGeom prst="rect">
            <a:avLst/>
          </a:prstGeom>
          <a:noFill/>
          <a:ln/>
        </p:spPr>
        <p:txBody>
          <a:bodyPr wrap="square" lIns="0" tIns="0" rIns="0" bIns="0" rtlCol="0" anchor="ctr"/>
          <a:lstStyle/>
          <a:p>
            <a:pPr marL="0" indent="0" algn="ctr">
              <a:buNone/>
            </a:pPr>
            <a:r>
              <a:rPr lang="en-US" sz="2600" b="1" dirty="0">
                <a:solidFill>
                  <a:srgbClr val="34D399"/>
                </a:solidFill>
              </a:rPr>
              <a:t>88.1%</a:t>
            </a:r>
            <a:endParaRPr lang="en-US" sz="2600" dirty="0"/>
          </a:p>
        </p:txBody>
      </p:sp>
      <p:sp>
        <p:nvSpPr>
          <p:cNvPr id="27" name="Text 25"/>
          <p:cNvSpPr/>
          <p:nvPr/>
        </p:nvSpPr>
        <p:spPr>
          <a:xfrm>
            <a:off x="4602472" y="3091184"/>
            <a:ext cx="2286000" cy="320040"/>
          </a:xfrm>
          <a:prstGeom prst="rect">
            <a:avLst/>
          </a:prstGeom>
          <a:noFill/>
          <a:ln/>
        </p:spPr>
        <p:txBody>
          <a:bodyPr wrap="square" lIns="0" tIns="0" rIns="0" bIns="0" rtlCol="0" anchor="ctr"/>
          <a:lstStyle/>
          <a:p>
            <a:pPr marL="0" indent="0" algn="ctr">
              <a:buNone/>
            </a:pPr>
            <a:r>
              <a:rPr lang="en-US" sz="1000" b="1" dirty="0">
                <a:solidFill>
                  <a:srgbClr val="A7F3D0"/>
                </a:solidFill>
              </a:rPr>
              <a:t>Internet Bookings</a:t>
            </a:r>
            <a:endParaRPr lang="en-US" sz="1000" dirty="0"/>
          </a:p>
        </p:txBody>
      </p:sp>
      <p:sp>
        <p:nvSpPr>
          <p:cNvPr id="28" name="Text 26"/>
          <p:cNvSpPr/>
          <p:nvPr/>
        </p:nvSpPr>
        <p:spPr>
          <a:xfrm>
            <a:off x="4602472" y="3398423"/>
            <a:ext cx="2286000" cy="256032"/>
          </a:xfrm>
          <a:prstGeom prst="rect">
            <a:avLst/>
          </a:prstGeom>
          <a:noFill/>
          <a:ln/>
        </p:spPr>
        <p:txBody>
          <a:bodyPr wrap="square" lIns="0" tIns="0" rIns="0" bIns="0" rtlCol="0" anchor="ctr"/>
          <a:lstStyle/>
          <a:p>
            <a:pPr marL="0" indent="0" algn="ctr">
              <a:buNone/>
            </a:pPr>
            <a:r>
              <a:rPr lang="en-US" sz="850" i="1" dirty="0">
                <a:solidFill>
                  <a:srgbClr val="A7F3D0"/>
                </a:solidFill>
              </a:rPr>
              <a:t>vs 11% Mobile</a:t>
            </a:r>
            <a:endParaRPr lang="en-US" sz="850" dirty="0"/>
          </a:p>
        </p:txBody>
      </p:sp>
      <p:sp>
        <p:nvSpPr>
          <p:cNvPr id="29" name="Shape 27"/>
          <p:cNvSpPr/>
          <p:nvPr/>
        </p:nvSpPr>
        <p:spPr>
          <a:xfrm>
            <a:off x="6980892" y="2423746"/>
            <a:ext cx="1965960" cy="1280160"/>
          </a:xfrm>
          <a:prstGeom prst="rect">
            <a:avLst/>
          </a:prstGeom>
          <a:solidFill>
            <a:srgbClr val="5B2333"/>
          </a:solidFill>
          <a:ln/>
          <a:effectLst>
            <a:outerShdw blurRad="101600" dist="38100" dir="8100000" algn="bl" rotWithShape="0">
              <a:srgbClr val="000000">
                <a:alpha val="12000"/>
              </a:srgbClr>
            </a:outerShdw>
          </a:effectLst>
        </p:spPr>
        <p:txBody>
          <a:bodyPr/>
          <a:lstStyle/>
          <a:p>
            <a:endParaRPr lang="en-US"/>
          </a:p>
        </p:txBody>
      </p:sp>
      <p:sp>
        <p:nvSpPr>
          <p:cNvPr id="30" name="Text 28"/>
          <p:cNvSpPr/>
          <p:nvPr/>
        </p:nvSpPr>
        <p:spPr>
          <a:xfrm>
            <a:off x="6866592" y="2446605"/>
            <a:ext cx="2194560" cy="640080"/>
          </a:xfrm>
          <a:prstGeom prst="rect">
            <a:avLst/>
          </a:prstGeom>
          <a:noFill/>
          <a:ln/>
        </p:spPr>
        <p:txBody>
          <a:bodyPr wrap="square" lIns="0" tIns="0" rIns="0" bIns="0" rtlCol="0" anchor="ctr"/>
          <a:lstStyle/>
          <a:p>
            <a:pPr marL="0" indent="0" algn="ctr">
              <a:buNone/>
            </a:pPr>
            <a:r>
              <a:rPr lang="en-US" sz="2600" b="1" dirty="0">
                <a:solidFill>
                  <a:srgbClr val="FCA5A5"/>
                </a:solidFill>
              </a:rPr>
              <a:t>73%</a:t>
            </a:r>
            <a:endParaRPr lang="en-US" sz="2600" dirty="0"/>
          </a:p>
        </p:txBody>
      </p:sp>
      <p:sp>
        <p:nvSpPr>
          <p:cNvPr id="31" name="Text 29"/>
          <p:cNvSpPr/>
          <p:nvPr/>
        </p:nvSpPr>
        <p:spPr>
          <a:xfrm>
            <a:off x="6820872" y="3020848"/>
            <a:ext cx="2286000" cy="320040"/>
          </a:xfrm>
          <a:prstGeom prst="rect">
            <a:avLst/>
          </a:prstGeom>
          <a:noFill/>
          <a:ln/>
        </p:spPr>
        <p:txBody>
          <a:bodyPr wrap="square" lIns="0" tIns="0" rIns="0" bIns="0" rtlCol="0" anchor="ctr"/>
          <a:lstStyle/>
          <a:p>
            <a:pPr marL="0" indent="0" algn="ctr">
              <a:buNone/>
            </a:pPr>
            <a:r>
              <a:rPr lang="en-US" sz="1000" b="1" dirty="0">
                <a:solidFill>
                  <a:srgbClr val="FEE2E2"/>
                </a:solidFill>
              </a:rPr>
              <a:t>Weekday Passenger Share</a:t>
            </a:r>
            <a:endParaRPr lang="en-US" sz="1000" dirty="0"/>
          </a:p>
        </p:txBody>
      </p:sp>
      <p:sp>
        <p:nvSpPr>
          <p:cNvPr id="32" name="Text 30"/>
          <p:cNvSpPr/>
          <p:nvPr/>
        </p:nvSpPr>
        <p:spPr>
          <a:xfrm>
            <a:off x="6820872" y="3328087"/>
            <a:ext cx="2286000" cy="256032"/>
          </a:xfrm>
          <a:prstGeom prst="rect">
            <a:avLst/>
          </a:prstGeom>
          <a:noFill/>
          <a:ln/>
        </p:spPr>
        <p:txBody>
          <a:bodyPr wrap="square" lIns="0" tIns="0" rIns="0" bIns="0" rtlCol="0" anchor="ctr"/>
          <a:lstStyle/>
          <a:p>
            <a:pPr marL="0" indent="0" algn="ctr">
              <a:buNone/>
            </a:pPr>
            <a:r>
              <a:rPr lang="en-US" sz="850" i="1" dirty="0">
                <a:solidFill>
                  <a:srgbClr val="FEE2E2"/>
                </a:solidFill>
              </a:rPr>
              <a:t>Mon–Thu dominant</a:t>
            </a:r>
            <a:endParaRPr lang="en-US" sz="850" dirty="0"/>
          </a:p>
        </p:txBody>
      </p:sp>
      <p:sp>
        <p:nvSpPr>
          <p:cNvPr id="33" name="Text 31"/>
          <p:cNvSpPr/>
          <p:nvPr/>
        </p:nvSpPr>
        <p:spPr>
          <a:xfrm>
            <a:off x="228600" y="4754880"/>
            <a:ext cx="8686800" cy="274320"/>
          </a:xfrm>
          <a:prstGeom prst="rect">
            <a:avLst/>
          </a:prstGeom>
          <a:noFill/>
          <a:ln>
            <a:solidFill>
              <a:schemeClr val="tx1"/>
            </a:solidFill>
            <a:prstDash val="solid"/>
          </a:ln>
        </p:spPr>
        <p:txBody>
          <a:bodyPr wrap="square" rtlCol="0" anchor="ctr"/>
          <a:lstStyle/>
          <a:p>
            <a:r>
              <a:rPr lang="en-US" sz="800" dirty="0"/>
              <a:t>This analysis is based on 51,201 booking records across 36 variables, covering three seat classes (Business, Premium Economy, and Economy) and two primary sales channels (Internet and Mobile). The data reveals clear patterns in revenue generation, Customer Behaviour, and operational performance that offer actionable opportunities for IndiGo Airlines.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Revenue Breakdown</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Seat Class &amp; Sales Channel</a:t>
            </a:r>
            <a:endParaRPr lang="en-US" sz="1000" dirty="0"/>
          </a:p>
        </p:txBody>
      </p:sp>
      <p:graphicFrame>
        <p:nvGraphicFramePr>
          <p:cNvPr id="5" name="Chart 0"/>
          <p:cNvGraphicFramePr/>
          <p:nvPr>
            <p:extLst>
              <p:ext uri="{D42A27DB-BD31-4B8C-83A1-F6EECF244321}">
                <p14:modId xmlns:p14="http://schemas.microsoft.com/office/powerpoint/2010/main" val="2892432373"/>
              </p:ext>
            </p:extLst>
          </p:nvPr>
        </p:nvGraphicFramePr>
        <p:xfrm>
          <a:off x="274320" y="777240"/>
          <a:ext cx="475488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3600243954"/>
              </p:ext>
            </p:extLst>
          </p:nvPr>
        </p:nvGraphicFramePr>
        <p:xfrm>
          <a:off x="5212080" y="777240"/>
          <a:ext cx="36576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74320" y="3840480"/>
            <a:ext cx="8595360" cy="777240"/>
          </a:xfrm>
          <a:prstGeom prst="rect">
            <a:avLst/>
          </a:prstGeom>
          <a:solidFill>
            <a:srgbClr val="EEF2FF"/>
          </a:solidFill>
          <a:ln/>
          <a:effectLst>
            <a:outerShdw blurRad="101600" dist="38100" dir="8100000" algn="bl" rotWithShape="0">
              <a:srgbClr val="000000">
                <a:alpha val="12000"/>
              </a:srgbClr>
            </a:outerShdw>
          </a:effectLst>
        </p:spPr>
        <p:txBody>
          <a:bodyPr/>
          <a:lstStyle/>
          <a:p>
            <a:endParaRPr lang="en-US"/>
          </a:p>
        </p:txBody>
      </p:sp>
      <p:sp>
        <p:nvSpPr>
          <p:cNvPr id="8" name="Text 4"/>
          <p:cNvSpPr/>
          <p:nvPr/>
        </p:nvSpPr>
        <p:spPr>
          <a:xfrm>
            <a:off x="457200" y="3886200"/>
            <a:ext cx="8229600" cy="685800"/>
          </a:xfrm>
          <a:prstGeom prst="rect">
            <a:avLst/>
          </a:prstGeom>
          <a:noFill/>
          <a:ln/>
        </p:spPr>
        <p:txBody>
          <a:bodyPr wrap="square" rtlCol="0" anchor="ctr"/>
          <a:lstStyle/>
          <a:p>
            <a:pPr marL="0" indent="0">
              <a:buNone/>
            </a:pPr>
            <a:r>
              <a:rPr lang="en-US" sz="1100" b="1" dirty="0">
                <a:solidFill>
                  <a:srgbClr val="1A3A8F"/>
                </a:solidFill>
              </a:rPr>
              <a:t>💡 Key Insight:  </a:t>
            </a:r>
            <a:r>
              <a:rPr lang="en-US" sz="1100" dirty="0">
                <a:solidFill>
                  <a:srgbClr val="1E293B"/>
                </a:solidFill>
              </a:rPr>
              <a:t>Business class generates 41.88% of total revenue despite representing only 33% of passengers.  Internet channel dominates with 91.69% of revenue — mobile is underperforming and a major growth opportunity.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Data Types &amp; Metrics Tree</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Analytical Framework</a:t>
            </a:r>
            <a:endParaRPr lang="en-US" sz="1000" dirty="0"/>
          </a:p>
        </p:txBody>
      </p:sp>
      <p:sp>
        <p:nvSpPr>
          <p:cNvPr id="5" name="Shape 3"/>
          <p:cNvSpPr/>
          <p:nvPr/>
        </p:nvSpPr>
        <p:spPr>
          <a:xfrm>
            <a:off x="228600" y="822960"/>
            <a:ext cx="73152" cy="777240"/>
          </a:xfrm>
          <a:prstGeom prst="rect">
            <a:avLst/>
          </a:prstGeom>
          <a:solidFill>
            <a:srgbClr val="0D9488"/>
          </a:solidFill>
          <a:ln/>
        </p:spPr>
        <p:txBody>
          <a:bodyPr/>
          <a:lstStyle/>
          <a:p>
            <a:endParaRPr lang="en-US"/>
          </a:p>
        </p:txBody>
      </p:sp>
      <p:sp>
        <p:nvSpPr>
          <p:cNvPr id="6" name="Text 4"/>
          <p:cNvSpPr/>
          <p:nvPr/>
        </p:nvSpPr>
        <p:spPr>
          <a:xfrm>
            <a:off x="384048" y="822960"/>
            <a:ext cx="3749040" cy="292608"/>
          </a:xfrm>
          <a:prstGeom prst="rect">
            <a:avLst/>
          </a:prstGeom>
          <a:noFill/>
          <a:ln/>
        </p:spPr>
        <p:txBody>
          <a:bodyPr wrap="square" lIns="0" tIns="0" rIns="0" bIns="0" rtlCol="0" anchor="ctr"/>
          <a:lstStyle/>
          <a:p>
            <a:pPr marL="0" indent="0">
              <a:buNone/>
            </a:pPr>
            <a:r>
              <a:rPr lang="en-US" sz="1100" b="1" dirty="0">
                <a:solidFill>
                  <a:srgbClr val="0D9488"/>
                </a:solidFill>
              </a:rPr>
              <a:t>Numerical Continuous</a:t>
            </a:r>
            <a:endParaRPr lang="en-US" sz="1100" dirty="0"/>
          </a:p>
        </p:txBody>
      </p:sp>
      <p:sp>
        <p:nvSpPr>
          <p:cNvPr id="7" name="Text 5"/>
          <p:cNvSpPr/>
          <p:nvPr/>
        </p:nvSpPr>
        <p:spPr>
          <a:xfrm>
            <a:off x="384048" y="1097280"/>
            <a:ext cx="3749040" cy="502920"/>
          </a:xfrm>
          <a:prstGeom prst="rect">
            <a:avLst/>
          </a:prstGeom>
          <a:noFill/>
          <a:ln/>
        </p:spPr>
        <p:txBody>
          <a:bodyPr wrap="square" lIns="0" tIns="0" rIns="0" bIns="0" rtlCol="0" anchor="ctr"/>
          <a:lstStyle/>
          <a:p>
            <a:pPr marL="0" indent="0">
              <a:buNone/>
            </a:pPr>
            <a:r>
              <a:rPr lang="en-US" sz="950" dirty="0">
                <a:solidFill>
                  <a:srgbClr val="64748B"/>
                </a:solidFill>
              </a:rPr>
              <a:t>flight_duration_planned / actual  ·  booking_amount  ·  purchase_lead  ·  variance_of_flight_time</a:t>
            </a:r>
            <a:endParaRPr lang="en-US" sz="950" dirty="0"/>
          </a:p>
        </p:txBody>
      </p:sp>
      <p:sp>
        <p:nvSpPr>
          <p:cNvPr id="8" name="Shape 6"/>
          <p:cNvSpPr/>
          <p:nvPr/>
        </p:nvSpPr>
        <p:spPr>
          <a:xfrm>
            <a:off x="228600" y="1828800"/>
            <a:ext cx="73152" cy="777240"/>
          </a:xfrm>
          <a:prstGeom prst="rect">
            <a:avLst/>
          </a:prstGeom>
          <a:solidFill>
            <a:srgbClr val="1A3A8F"/>
          </a:solidFill>
          <a:ln/>
        </p:spPr>
        <p:txBody>
          <a:bodyPr/>
          <a:lstStyle/>
          <a:p>
            <a:endParaRPr lang="en-US"/>
          </a:p>
        </p:txBody>
      </p:sp>
      <p:sp>
        <p:nvSpPr>
          <p:cNvPr id="9" name="Text 7"/>
          <p:cNvSpPr/>
          <p:nvPr/>
        </p:nvSpPr>
        <p:spPr>
          <a:xfrm>
            <a:off x="384048" y="1828800"/>
            <a:ext cx="3749040" cy="292608"/>
          </a:xfrm>
          <a:prstGeom prst="rect">
            <a:avLst/>
          </a:prstGeom>
          <a:noFill/>
          <a:ln/>
        </p:spPr>
        <p:txBody>
          <a:bodyPr wrap="square" lIns="0" tIns="0" rIns="0" bIns="0" rtlCol="0" anchor="ctr"/>
          <a:lstStyle/>
          <a:p>
            <a:pPr marL="0" indent="0">
              <a:buNone/>
            </a:pPr>
            <a:r>
              <a:rPr lang="en-US" sz="1100" b="1" dirty="0">
                <a:solidFill>
                  <a:srgbClr val="1A3A8F"/>
                </a:solidFill>
              </a:rPr>
              <a:t>Numerical Discrete</a:t>
            </a:r>
            <a:endParaRPr lang="en-US" sz="1100" dirty="0"/>
          </a:p>
        </p:txBody>
      </p:sp>
      <p:sp>
        <p:nvSpPr>
          <p:cNvPr id="10" name="Text 8"/>
          <p:cNvSpPr/>
          <p:nvPr/>
        </p:nvSpPr>
        <p:spPr>
          <a:xfrm>
            <a:off x="384048" y="2103120"/>
            <a:ext cx="3749040" cy="502920"/>
          </a:xfrm>
          <a:prstGeom prst="rect">
            <a:avLst/>
          </a:prstGeom>
          <a:noFill/>
          <a:ln/>
        </p:spPr>
        <p:txBody>
          <a:bodyPr wrap="square" lIns="0" tIns="0" rIns="0" bIns="0" rtlCol="0" anchor="ctr"/>
          <a:lstStyle/>
          <a:p>
            <a:pPr marL="0" indent="0">
              <a:buNone/>
            </a:pPr>
            <a:r>
              <a:rPr lang="en-US" sz="950" dirty="0">
                <a:solidFill>
                  <a:srgbClr val="64748B"/>
                </a:solidFill>
              </a:rPr>
              <a:t>num_passengers  ·  flight_hour  ·  flight_number</a:t>
            </a:r>
            <a:endParaRPr lang="en-US" sz="950" dirty="0"/>
          </a:p>
        </p:txBody>
      </p:sp>
      <p:sp>
        <p:nvSpPr>
          <p:cNvPr id="11" name="Shape 9"/>
          <p:cNvSpPr/>
          <p:nvPr/>
        </p:nvSpPr>
        <p:spPr>
          <a:xfrm>
            <a:off x="228600" y="2834640"/>
            <a:ext cx="73152" cy="777240"/>
          </a:xfrm>
          <a:prstGeom prst="rect">
            <a:avLst/>
          </a:prstGeom>
          <a:solidFill>
            <a:srgbClr val="F97316"/>
          </a:solidFill>
          <a:ln/>
        </p:spPr>
        <p:txBody>
          <a:bodyPr/>
          <a:lstStyle/>
          <a:p>
            <a:endParaRPr lang="en-US"/>
          </a:p>
        </p:txBody>
      </p:sp>
      <p:sp>
        <p:nvSpPr>
          <p:cNvPr id="12" name="Text 10"/>
          <p:cNvSpPr/>
          <p:nvPr/>
        </p:nvSpPr>
        <p:spPr>
          <a:xfrm>
            <a:off x="384048" y="2834640"/>
            <a:ext cx="3749040" cy="292608"/>
          </a:xfrm>
          <a:prstGeom prst="rect">
            <a:avLst/>
          </a:prstGeom>
          <a:noFill/>
          <a:ln/>
        </p:spPr>
        <p:txBody>
          <a:bodyPr wrap="square" lIns="0" tIns="0" rIns="0" bIns="0" rtlCol="0" anchor="ctr"/>
          <a:lstStyle/>
          <a:p>
            <a:pPr marL="0" indent="0">
              <a:buNone/>
            </a:pPr>
            <a:r>
              <a:rPr lang="en-US" sz="1100" b="1" dirty="0">
                <a:solidFill>
                  <a:srgbClr val="F97316"/>
                </a:solidFill>
              </a:rPr>
              <a:t>Categorical Nominal</a:t>
            </a:r>
            <a:endParaRPr lang="en-US" sz="1100" dirty="0"/>
          </a:p>
        </p:txBody>
      </p:sp>
      <p:sp>
        <p:nvSpPr>
          <p:cNvPr id="13" name="Text 11"/>
          <p:cNvSpPr/>
          <p:nvPr/>
        </p:nvSpPr>
        <p:spPr>
          <a:xfrm>
            <a:off x="384048" y="3108960"/>
            <a:ext cx="3749040" cy="502920"/>
          </a:xfrm>
          <a:prstGeom prst="rect">
            <a:avLst/>
          </a:prstGeom>
          <a:noFill/>
          <a:ln/>
        </p:spPr>
        <p:txBody>
          <a:bodyPr wrap="square" lIns="0" tIns="0" rIns="0" bIns="0" rtlCol="0" anchor="ctr"/>
          <a:lstStyle/>
          <a:p>
            <a:pPr marL="0" indent="0">
              <a:buNone/>
            </a:pPr>
            <a:r>
              <a:rPr lang="en-US" sz="950" dirty="0">
                <a:solidFill>
                  <a:srgbClr val="64748B"/>
                </a:solidFill>
              </a:rPr>
              <a:t>sales_channel, Route, seat_class  ·  booking_origin, trip_type</a:t>
            </a:r>
            <a:endParaRPr lang="en-US" sz="950" dirty="0"/>
          </a:p>
        </p:txBody>
      </p:sp>
      <p:sp>
        <p:nvSpPr>
          <p:cNvPr id="14" name="Shape 12"/>
          <p:cNvSpPr/>
          <p:nvPr/>
        </p:nvSpPr>
        <p:spPr>
          <a:xfrm>
            <a:off x="228600" y="3840480"/>
            <a:ext cx="73152" cy="777240"/>
          </a:xfrm>
          <a:prstGeom prst="rect">
            <a:avLst/>
          </a:prstGeom>
          <a:solidFill>
            <a:srgbClr val="7C3AED"/>
          </a:solidFill>
          <a:ln/>
        </p:spPr>
        <p:txBody>
          <a:bodyPr/>
          <a:lstStyle/>
          <a:p>
            <a:endParaRPr lang="en-US"/>
          </a:p>
        </p:txBody>
      </p:sp>
      <p:sp>
        <p:nvSpPr>
          <p:cNvPr id="15" name="Text 13"/>
          <p:cNvSpPr/>
          <p:nvPr/>
        </p:nvSpPr>
        <p:spPr>
          <a:xfrm>
            <a:off x="384048" y="3840480"/>
            <a:ext cx="3749040" cy="292608"/>
          </a:xfrm>
          <a:prstGeom prst="rect">
            <a:avLst/>
          </a:prstGeom>
          <a:noFill/>
          <a:ln/>
        </p:spPr>
        <p:txBody>
          <a:bodyPr wrap="square" lIns="0" tIns="0" rIns="0" bIns="0" rtlCol="0" anchor="ctr"/>
          <a:lstStyle/>
          <a:p>
            <a:pPr marL="0" indent="0">
              <a:buNone/>
            </a:pPr>
            <a:r>
              <a:rPr lang="en-US" sz="1100" b="1" dirty="0">
                <a:solidFill>
                  <a:srgbClr val="7C3AED"/>
                </a:solidFill>
              </a:rPr>
              <a:t>Categorical Ordinal</a:t>
            </a:r>
            <a:endParaRPr lang="en-US" sz="1100" dirty="0"/>
          </a:p>
        </p:txBody>
      </p:sp>
      <p:sp>
        <p:nvSpPr>
          <p:cNvPr id="16" name="Text 14"/>
          <p:cNvSpPr/>
          <p:nvPr/>
        </p:nvSpPr>
        <p:spPr>
          <a:xfrm>
            <a:off x="384048" y="4114800"/>
            <a:ext cx="3749040" cy="502920"/>
          </a:xfrm>
          <a:prstGeom prst="rect">
            <a:avLst/>
          </a:prstGeom>
          <a:noFill/>
          <a:ln/>
        </p:spPr>
        <p:txBody>
          <a:bodyPr wrap="square" lIns="0" tIns="0" rIns="0" bIns="0" rtlCol="0" anchor="ctr"/>
          <a:lstStyle/>
          <a:p>
            <a:pPr marL="0" indent="0">
              <a:buNone/>
            </a:pPr>
            <a:r>
              <a:rPr lang="en-US" sz="950" dirty="0">
                <a:solidFill>
                  <a:srgbClr val="64748B"/>
                </a:solidFill>
              </a:rPr>
              <a:t>flight_day (Mon→Sun)  ·  day_segment, length_of_stay_segment</a:t>
            </a:r>
            <a:endParaRPr lang="en-US" sz="950" dirty="0"/>
          </a:p>
        </p:txBody>
      </p:sp>
      <p:sp>
        <p:nvSpPr>
          <p:cNvPr id="17" name="Shape 15"/>
          <p:cNvSpPr/>
          <p:nvPr/>
        </p:nvSpPr>
        <p:spPr>
          <a:xfrm>
            <a:off x="5669280" y="822960"/>
            <a:ext cx="2560320" cy="502920"/>
          </a:xfrm>
          <a:prstGeom prst="rect">
            <a:avLst/>
          </a:prstGeom>
          <a:solidFill>
            <a:srgbClr val="0A1E4E"/>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5669280" y="822960"/>
            <a:ext cx="2560320" cy="502920"/>
          </a:xfrm>
          <a:prstGeom prst="rect">
            <a:avLst/>
          </a:prstGeom>
          <a:noFill/>
          <a:ln/>
        </p:spPr>
        <p:txBody>
          <a:bodyPr wrap="square" lIns="0" tIns="0" rIns="0" bIns="0" rtlCol="0" anchor="ctr"/>
          <a:lstStyle/>
          <a:p>
            <a:pPr marL="0" indent="0" algn="ctr">
              <a:buNone/>
            </a:pPr>
            <a:r>
              <a:rPr lang="en-US" sz="1100" b="1" dirty="0">
                <a:solidFill>
                  <a:srgbClr val="FFFFFF"/>
                </a:solidFill>
              </a:rPr>
              <a:t>Total Revenue</a:t>
            </a:r>
            <a:endParaRPr lang="en-US" sz="1100" dirty="0"/>
          </a:p>
        </p:txBody>
      </p:sp>
      <p:sp>
        <p:nvSpPr>
          <p:cNvPr id="19" name="Shape 17"/>
          <p:cNvSpPr/>
          <p:nvPr/>
        </p:nvSpPr>
        <p:spPr>
          <a:xfrm>
            <a:off x="4663440" y="1691640"/>
            <a:ext cx="2103120" cy="457200"/>
          </a:xfrm>
          <a:prstGeom prst="rect">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20" name="Text 18"/>
          <p:cNvSpPr/>
          <p:nvPr/>
        </p:nvSpPr>
        <p:spPr>
          <a:xfrm>
            <a:off x="4663440" y="169164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rPr>
              <a:t>By Seat Class</a:t>
            </a:r>
            <a:endParaRPr lang="en-US" sz="1000" dirty="0"/>
          </a:p>
        </p:txBody>
      </p:sp>
      <p:sp>
        <p:nvSpPr>
          <p:cNvPr id="21" name="Shape 19"/>
          <p:cNvSpPr/>
          <p:nvPr/>
        </p:nvSpPr>
        <p:spPr>
          <a:xfrm>
            <a:off x="6949440" y="1325880"/>
            <a:ext cx="0" cy="182880"/>
          </a:xfrm>
          <a:prstGeom prst="line">
            <a:avLst/>
          </a:prstGeom>
          <a:noFill/>
          <a:ln w="12700">
            <a:solidFill>
              <a:srgbClr val="94A3B8"/>
            </a:solidFill>
            <a:prstDash val="solid"/>
          </a:ln>
        </p:spPr>
        <p:txBody>
          <a:bodyPr/>
          <a:lstStyle/>
          <a:p>
            <a:endParaRPr lang="en-US"/>
          </a:p>
        </p:txBody>
      </p:sp>
      <p:sp>
        <p:nvSpPr>
          <p:cNvPr id="22" name="Shape 20"/>
          <p:cNvSpPr/>
          <p:nvPr/>
        </p:nvSpPr>
        <p:spPr>
          <a:xfrm>
            <a:off x="7040880" y="1691640"/>
            <a:ext cx="2103120" cy="457200"/>
          </a:xfrm>
          <a:prstGeom prst="rect">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23" name="Text 21"/>
          <p:cNvSpPr/>
          <p:nvPr/>
        </p:nvSpPr>
        <p:spPr>
          <a:xfrm>
            <a:off x="7040880" y="169164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rPr>
              <a:t>By Sales Channel</a:t>
            </a:r>
            <a:endParaRPr lang="en-US" sz="1000" dirty="0"/>
          </a:p>
        </p:txBody>
      </p:sp>
      <p:sp>
        <p:nvSpPr>
          <p:cNvPr id="24" name="Shape 22"/>
          <p:cNvSpPr/>
          <p:nvPr/>
        </p:nvSpPr>
        <p:spPr>
          <a:xfrm>
            <a:off x="6949440" y="1325880"/>
            <a:ext cx="0" cy="182880"/>
          </a:xfrm>
          <a:prstGeom prst="line">
            <a:avLst/>
          </a:prstGeom>
          <a:noFill/>
          <a:ln w="12700">
            <a:solidFill>
              <a:srgbClr val="94A3B8"/>
            </a:solidFill>
            <a:prstDash val="solid"/>
          </a:ln>
        </p:spPr>
        <p:txBody>
          <a:bodyPr/>
          <a:lstStyle/>
          <a:p>
            <a:endParaRPr lang="en-US"/>
          </a:p>
        </p:txBody>
      </p:sp>
      <p:sp>
        <p:nvSpPr>
          <p:cNvPr id="25" name="Shape 23"/>
          <p:cNvSpPr/>
          <p:nvPr/>
        </p:nvSpPr>
        <p:spPr>
          <a:xfrm>
            <a:off x="5074920" y="2356060"/>
            <a:ext cx="1097280" cy="640080"/>
          </a:xfrm>
          <a:prstGeom prst="rect">
            <a:avLst/>
          </a:prstGeom>
          <a:solidFill>
            <a:srgbClr val="1E3A6E"/>
          </a:solidFill>
          <a:ln/>
          <a:effectLst>
            <a:outerShdw blurRad="101600" dist="38100" dir="8100000" algn="bl" rotWithShape="0">
              <a:srgbClr val="000000">
                <a:alpha val="12000"/>
              </a:srgbClr>
            </a:outerShdw>
          </a:effectLst>
        </p:spPr>
        <p:txBody>
          <a:bodyPr/>
          <a:lstStyle/>
          <a:p>
            <a:endParaRPr lang="en-US"/>
          </a:p>
        </p:txBody>
      </p:sp>
      <p:sp>
        <p:nvSpPr>
          <p:cNvPr id="26" name="Text 24"/>
          <p:cNvSpPr/>
          <p:nvPr/>
        </p:nvSpPr>
        <p:spPr>
          <a:xfrm>
            <a:off x="5074920" y="2352698"/>
            <a:ext cx="1097280" cy="640080"/>
          </a:xfrm>
          <a:prstGeom prst="rect">
            <a:avLst/>
          </a:prstGeom>
          <a:noFill/>
          <a:ln/>
        </p:spPr>
        <p:txBody>
          <a:bodyPr wrap="square" lIns="0" tIns="0" rIns="0" bIns="0" rtlCol="0" anchor="ctr"/>
          <a:lstStyle/>
          <a:p>
            <a:pPr marL="0" indent="0" algn="ctr">
              <a:buNone/>
            </a:pPr>
            <a:r>
              <a:rPr lang="en-US" sz="850" dirty="0">
                <a:solidFill>
                  <a:srgbClr val="FFFFFF"/>
                </a:solidFill>
              </a:rPr>
              <a:t>Business</a:t>
            </a:r>
            <a:endParaRPr lang="en-US" sz="850" dirty="0"/>
          </a:p>
          <a:p>
            <a:pPr marL="0" indent="0" algn="ctr">
              <a:buNone/>
            </a:pPr>
            <a:r>
              <a:rPr lang="en-US" sz="850" dirty="0">
                <a:solidFill>
                  <a:srgbClr val="FFFFFF"/>
                </a:solidFill>
              </a:rPr>
              <a:t>₹7.68 Cr</a:t>
            </a:r>
            <a:endParaRPr lang="en-US" sz="850" dirty="0"/>
          </a:p>
        </p:txBody>
      </p:sp>
      <p:sp>
        <p:nvSpPr>
          <p:cNvPr id="27" name="Shape 25"/>
          <p:cNvSpPr/>
          <p:nvPr/>
        </p:nvSpPr>
        <p:spPr>
          <a:xfrm>
            <a:off x="5074920" y="3141569"/>
            <a:ext cx="1097280" cy="640080"/>
          </a:xfrm>
          <a:prstGeom prst="rect">
            <a:avLst/>
          </a:prstGeom>
          <a:solidFill>
            <a:srgbClr val="0D9488"/>
          </a:solidFill>
          <a:ln/>
          <a:effectLst>
            <a:outerShdw blurRad="101600" dist="38100" dir="8100000" algn="bl" rotWithShape="0">
              <a:srgbClr val="000000">
                <a:alpha val="12000"/>
              </a:srgbClr>
            </a:outerShdw>
          </a:effectLst>
        </p:spPr>
        <p:txBody>
          <a:bodyPr/>
          <a:lstStyle/>
          <a:p>
            <a:endParaRPr lang="en-US"/>
          </a:p>
        </p:txBody>
      </p:sp>
      <p:sp>
        <p:nvSpPr>
          <p:cNvPr id="28" name="Text 26"/>
          <p:cNvSpPr/>
          <p:nvPr/>
        </p:nvSpPr>
        <p:spPr>
          <a:xfrm>
            <a:off x="5074920" y="3141569"/>
            <a:ext cx="1097280" cy="640080"/>
          </a:xfrm>
          <a:prstGeom prst="rect">
            <a:avLst/>
          </a:prstGeom>
          <a:noFill/>
          <a:ln/>
        </p:spPr>
        <p:txBody>
          <a:bodyPr wrap="square" lIns="0" tIns="0" rIns="0" bIns="0" rtlCol="0" anchor="ctr"/>
          <a:lstStyle/>
          <a:p>
            <a:pPr marL="0" indent="0" algn="ctr">
              <a:buNone/>
            </a:pPr>
            <a:r>
              <a:rPr lang="en-US" sz="850" dirty="0">
                <a:solidFill>
                  <a:srgbClr val="FFFFFF"/>
                </a:solidFill>
              </a:rPr>
              <a:t>Prem. Eco</a:t>
            </a:r>
            <a:endParaRPr lang="en-US" sz="850" dirty="0"/>
          </a:p>
          <a:p>
            <a:pPr marL="0" indent="0" algn="ctr">
              <a:buNone/>
            </a:pPr>
            <a:r>
              <a:rPr lang="en-US" sz="850" dirty="0">
                <a:solidFill>
                  <a:srgbClr val="FFFFFF"/>
                </a:solidFill>
              </a:rPr>
              <a:t>₹6.17 Cr</a:t>
            </a:r>
            <a:endParaRPr lang="en-US" sz="850" dirty="0"/>
          </a:p>
        </p:txBody>
      </p:sp>
      <p:sp>
        <p:nvSpPr>
          <p:cNvPr id="29" name="Shape 27"/>
          <p:cNvSpPr/>
          <p:nvPr/>
        </p:nvSpPr>
        <p:spPr>
          <a:xfrm>
            <a:off x="5074920" y="3912018"/>
            <a:ext cx="1097280" cy="640080"/>
          </a:xfrm>
          <a:prstGeom prst="rect">
            <a:avLst/>
          </a:prstGeom>
          <a:solidFill>
            <a:srgbClr val="4B5563"/>
          </a:solidFill>
          <a:ln/>
          <a:effectLst>
            <a:outerShdw blurRad="101600" dist="38100" dir="8100000" algn="bl" rotWithShape="0">
              <a:srgbClr val="000000">
                <a:alpha val="12000"/>
              </a:srgbClr>
            </a:outerShdw>
          </a:effectLst>
        </p:spPr>
        <p:txBody>
          <a:bodyPr/>
          <a:lstStyle/>
          <a:p>
            <a:endParaRPr lang="en-US"/>
          </a:p>
        </p:txBody>
      </p:sp>
      <p:sp>
        <p:nvSpPr>
          <p:cNvPr id="30" name="Text 28"/>
          <p:cNvSpPr/>
          <p:nvPr/>
        </p:nvSpPr>
        <p:spPr>
          <a:xfrm>
            <a:off x="5074920" y="3912018"/>
            <a:ext cx="1097280" cy="640080"/>
          </a:xfrm>
          <a:prstGeom prst="rect">
            <a:avLst/>
          </a:prstGeom>
          <a:noFill/>
          <a:ln/>
        </p:spPr>
        <p:txBody>
          <a:bodyPr wrap="square" lIns="0" tIns="0" rIns="0" bIns="0" rtlCol="0" anchor="ctr"/>
          <a:lstStyle/>
          <a:p>
            <a:pPr marL="0" indent="0" algn="ctr">
              <a:buNone/>
            </a:pPr>
            <a:r>
              <a:rPr lang="en-US" sz="850" dirty="0">
                <a:solidFill>
                  <a:srgbClr val="FFFFFF"/>
                </a:solidFill>
              </a:rPr>
              <a:t>Economy</a:t>
            </a:r>
            <a:endParaRPr lang="en-US" sz="850" dirty="0"/>
          </a:p>
          <a:p>
            <a:pPr marL="0" indent="0" algn="ctr">
              <a:buNone/>
            </a:pPr>
            <a:r>
              <a:rPr lang="en-US" sz="850" dirty="0">
                <a:solidFill>
                  <a:srgbClr val="FFFFFF"/>
                </a:solidFill>
              </a:rPr>
              <a:t>₹4.49 Cr</a:t>
            </a:r>
            <a:endParaRPr lang="en-US" sz="850" dirty="0"/>
          </a:p>
        </p:txBody>
      </p:sp>
      <p:sp>
        <p:nvSpPr>
          <p:cNvPr id="31" name="Shape 29"/>
          <p:cNvSpPr/>
          <p:nvPr/>
        </p:nvSpPr>
        <p:spPr>
          <a:xfrm>
            <a:off x="7543800" y="2305902"/>
            <a:ext cx="1097280" cy="640080"/>
          </a:xfrm>
          <a:prstGeom prst="rect">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32" name="Text 30"/>
          <p:cNvSpPr/>
          <p:nvPr/>
        </p:nvSpPr>
        <p:spPr>
          <a:xfrm>
            <a:off x="7543800" y="2285194"/>
            <a:ext cx="1097280" cy="640080"/>
          </a:xfrm>
          <a:prstGeom prst="rect">
            <a:avLst/>
          </a:prstGeom>
          <a:noFill/>
          <a:ln/>
        </p:spPr>
        <p:txBody>
          <a:bodyPr wrap="square" lIns="0" tIns="0" rIns="0" bIns="0" rtlCol="0" anchor="ctr"/>
          <a:lstStyle/>
          <a:p>
            <a:pPr marL="0" indent="0" algn="ctr">
              <a:buNone/>
            </a:pPr>
            <a:r>
              <a:rPr lang="en-US" sz="850" dirty="0">
                <a:solidFill>
                  <a:srgbClr val="FFFFFF"/>
                </a:solidFill>
              </a:rPr>
              <a:t>Internet</a:t>
            </a:r>
            <a:endParaRPr lang="en-US" sz="850" dirty="0"/>
          </a:p>
          <a:p>
            <a:pPr marL="0" indent="0" algn="ctr">
              <a:buNone/>
            </a:pPr>
            <a:r>
              <a:rPr lang="en-US" sz="850" dirty="0">
                <a:solidFill>
                  <a:srgbClr val="FFFFFF"/>
                </a:solidFill>
              </a:rPr>
              <a:t>₹168 Cr</a:t>
            </a:r>
            <a:endParaRPr lang="en-US" sz="850" dirty="0"/>
          </a:p>
        </p:txBody>
      </p:sp>
      <p:sp>
        <p:nvSpPr>
          <p:cNvPr id="33" name="Shape 31"/>
          <p:cNvSpPr/>
          <p:nvPr/>
        </p:nvSpPr>
        <p:spPr>
          <a:xfrm>
            <a:off x="7543800" y="3063240"/>
            <a:ext cx="1097280" cy="640080"/>
          </a:xfrm>
          <a:prstGeom prst="rect">
            <a:avLst/>
          </a:prstGeom>
          <a:solidFill>
            <a:srgbClr val="F97316"/>
          </a:solidFill>
          <a:ln/>
          <a:effectLst>
            <a:outerShdw blurRad="101600" dist="38100" dir="8100000" algn="bl" rotWithShape="0">
              <a:srgbClr val="000000">
                <a:alpha val="12000"/>
              </a:srgbClr>
            </a:outerShdw>
          </a:effectLst>
        </p:spPr>
        <p:txBody>
          <a:bodyPr/>
          <a:lstStyle/>
          <a:p>
            <a:endParaRPr lang="en-US"/>
          </a:p>
        </p:txBody>
      </p:sp>
      <p:sp>
        <p:nvSpPr>
          <p:cNvPr id="34" name="Text 32"/>
          <p:cNvSpPr/>
          <p:nvPr/>
        </p:nvSpPr>
        <p:spPr>
          <a:xfrm>
            <a:off x="7543800" y="3063240"/>
            <a:ext cx="1097280" cy="640080"/>
          </a:xfrm>
          <a:prstGeom prst="rect">
            <a:avLst/>
          </a:prstGeom>
          <a:noFill/>
          <a:ln/>
        </p:spPr>
        <p:txBody>
          <a:bodyPr wrap="square" lIns="0" tIns="0" rIns="0" bIns="0" rtlCol="0" anchor="ctr"/>
          <a:lstStyle/>
          <a:p>
            <a:pPr marL="0" indent="0" algn="ctr">
              <a:buNone/>
            </a:pPr>
            <a:r>
              <a:rPr lang="en-US" sz="850" dirty="0">
                <a:solidFill>
                  <a:srgbClr val="FFFFFF"/>
                </a:solidFill>
              </a:rPr>
              <a:t>Mobile</a:t>
            </a:r>
            <a:endParaRPr lang="en-US" sz="850" dirty="0"/>
          </a:p>
          <a:p>
            <a:pPr marL="0" indent="0" algn="ctr">
              <a:buNone/>
            </a:pPr>
            <a:r>
              <a:rPr lang="en-US" sz="850" dirty="0">
                <a:solidFill>
                  <a:srgbClr val="FFFFFF"/>
                </a:solidFill>
              </a:rPr>
              <a:t>₹15.2 Cr</a:t>
            </a:r>
            <a:endParaRPr lang="en-US" sz="850" dirty="0"/>
          </a:p>
        </p:txBody>
      </p:sp>
      <p:sp>
        <p:nvSpPr>
          <p:cNvPr id="35" name="Shape 33"/>
          <p:cNvSpPr/>
          <p:nvPr/>
        </p:nvSpPr>
        <p:spPr>
          <a:xfrm>
            <a:off x="7484364" y="3879341"/>
            <a:ext cx="1216152" cy="640080"/>
          </a:xfrm>
          <a:prstGeom prst="rect">
            <a:avLst/>
          </a:prstGeom>
          <a:solidFill>
            <a:srgbClr val="047857"/>
          </a:solidFill>
          <a:ln/>
          <a:effectLst>
            <a:outerShdw blurRad="101600" dist="38100" dir="8100000" algn="bl" rotWithShape="0">
              <a:srgbClr val="000000">
                <a:alpha val="12000"/>
              </a:srgbClr>
            </a:outerShdw>
          </a:effectLst>
        </p:spPr>
        <p:txBody>
          <a:bodyPr/>
          <a:lstStyle/>
          <a:p>
            <a:endParaRPr lang="en-US"/>
          </a:p>
        </p:txBody>
      </p:sp>
      <p:sp>
        <p:nvSpPr>
          <p:cNvPr id="36" name="Text 34"/>
          <p:cNvSpPr/>
          <p:nvPr/>
        </p:nvSpPr>
        <p:spPr>
          <a:xfrm>
            <a:off x="7543800" y="3840480"/>
            <a:ext cx="1097280" cy="640080"/>
          </a:xfrm>
          <a:prstGeom prst="rect">
            <a:avLst/>
          </a:prstGeom>
          <a:noFill/>
          <a:ln/>
        </p:spPr>
        <p:txBody>
          <a:bodyPr wrap="square" lIns="0" tIns="0" rIns="0" bIns="0" rtlCol="0" anchor="ctr"/>
          <a:lstStyle/>
          <a:p>
            <a:pPr marL="0" indent="0" algn="ctr">
              <a:buNone/>
            </a:pPr>
            <a:r>
              <a:rPr lang="en-US" sz="850" dirty="0">
                <a:solidFill>
                  <a:srgbClr val="FFFFFF"/>
                </a:solidFill>
              </a:rPr>
              <a:t>Avg Booking Amt.₹24.5K</a:t>
            </a:r>
            <a:endParaRPr lang="en-US" sz="850" dirty="0"/>
          </a:p>
          <a:p>
            <a:pPr marL="0" indent="0" algn="ctr">
              <a:buNone/>
            </a:pPr>
            <a:r>
              <a:rPr lang="en-US" sz="850" dirty="0">
                <a:solidFill>
                  <a:srgbClr val="FFFFFF"/>
                </a:solidFill>
              </a:rPr>
              <a:t>(On Successful 7,442 Booking)</a:t>
            </a:r>
            <a:endParaRPr lang="en-US" sz="850" dirty="0"/>
          </a:p>
        </p:txBody>
      </p:sp>
      <p:sp>
        <p:nvSpPr>
          <p:cNvPr id="37" name="Text 35"/>
          <p:cNvSpPr/>
          <p:nvPr/>
        </p:nvSpPr>
        <p:spPr>
          <a:xfrm>
            <a:off x="228600" y="4709160"/>
            <a:ext cx="8686800" cy="365760"/>
          </a:xfrm>
          <a:prstGeom prst="rect">
            <a:avLst/>
          </a:prstGeom>
          <a:noFill/>
          <a:ln/>
        </p:spPr>
        <p:txBody>
          <a:bodyPr wrap="square" rtlCol="0" anchor="ctr"/>
          <a:lstStyle/>
          <a:p>
            <a:pPr marL="0" indent="0">
              <a:buNone/>
            </a:pPr>
            <a:r>
              <a:rPr lang="en-US" sz="900" i="1" dirty="0">
                <a:solidFill>
                  <a:srgbClr val="64748B"/>
                </a:solidFill>
              </a:rPr>
              <a:t>Missing Data Note: 1,214 rows had missing values (2.4%) — handled via exclusion for numeric stats. Sales channel had 59 '{no data}' records removed from channel analysis.</a:t>
            </a:r>
            <a:endParaRPr lang="en-US" sz="900" dirty="0"/>
          </a:p>
        </p:txBody>
      </p:sp>
      <p:cxnSp>
        <p:nvCxnSpPr>
          <p:cNvPr id="40" name="Straight Connector 39">
            <a:extLst>
              <a:ext uri="{FF2B5EF4-FFF2-40B4-BE49-F238E27FC236}">
                <a16:creationId xmlns:a16="http://schemas.microsoft.com/office/drawing/2014/main" id="{4E914948-5784-D277-3379-767CF4326339}"/>
              </a:ext>
            </a:extLst>
          </p:cNvPr>
          <p:cNvCxnSpPr>
            <a:cxnSpLocks/>
          </p:cNvCxnSpPr>
          <p:nvPr/>
        </p:nvCxnSpPr>
        <p:spPr>
          <a:xfrm>
            <a:off x="5715000" y="1508760"/>
            <a:ext cx="2377440"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7EB8740-B09D-29FE-4716-FADC1FAF1B52}"/>
              </a:ext>
            </a:extLst>
          </p:cNvPr>
          <p:cNvCxnSpPr>
            <a:endCxn id="20" idx="0"/>
          </p:cNvCxnSpPr>
          <p:nvPr/>
        </p:nvCxnSpPr>
        <p:spPr>
          <a:xfrm>
            <a:off x="5715000" y="1508760"/>
            <a:ext cx="0" cy="18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2FA6AF8-5C4B-9684-5D34-FC25A52C6D25}"/>
              </a:ext>
            </a:extLst>
          </p:cNvPr>
          <p:cNvCxnSpPr>
            <a:endCxn id="23" idx="0"/>
          </p:cNvCxnSpPr>
          <p:nvPr/>
        </p:nvCxnSpPr>
        <p:spPr>
          <a:xfrm>
            <a:off x="8092440" y="1508760"/>
            <a:ext cx="0" cy="18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Hypothesis Testing – Customer Preferences</a:t>
            </a:r>
            <a:endParaRPr lang="en-US" sz="2000" dirty="0"/>
          </a:p>
        </p:txBody>
      </p:sp>
      <p:sp>
        <p:nvSpPr>
          <p:cNvPr id="4" name="Text 2"/>
          <p:cNvSpPr/>
          <p:nvPr/>
        </p:nvSpPr>
        <p:spPr>
          <a:xfrm>
            <a:off x="6283843" y="0"/>
            <a:ext cx="2860157" cy="685800"/>
          </a:xfrm>
          <a:prstGeom prst="rect">
            <a:avLst/>
          </a:prstGeom>
          <a:noFill/>
          <a:ln/>
        </p:spPr>
        <p:txBody>
          <a:bodyPr wrap="square" lIns="0" tIns="0" rIns="0" bIns="0" rtlCol="0" anchor="ctr"/>
          <a:lstStyle/>
          <a:p>
            <a:pPr marL="0" indent="0" algn="ctr">
              <a:buNone/>
            </a:pPr>
            <a:r>
              <a:rPr lang="en-US" sz="1000" dirty="0">
                <a:solidFill>
                  <a:srgbClr val="AABCDD"/>
                </a:solidFill>
              </a:rPr>
              <a:t>Extra Baggage · In-Flight Meals · Preferred Seat  </a:t>
            </a:r>
            <a:endParaRPr lang="en-US" sz="1000" dirty="0"/>
          </a:p>
        </p:txBody>
      </p:sp>
      <p:sp>
        <p:nvSpPr>
          <p:cNvPr id="5" name="Shape 3"/>
          <p:cNvSpPr/>
          <p:nvPr/>
        </p:nvSpPr>
        <p:spPr>
          <a:xfrm>
            <a:off x="228600" y="822960"/>
            <a:ext cx="4206240" cy="1828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28600" y="822960"/>
            <a:ext cx="73152" cy="1828800"/>
          </a:xfrm>
          <a:prstGeom prst="rect">
            <a:avLst/>
          </a:prstGeom>
          <a:solidFill>
            <a:srgbClr val="0D9488"/>
          </a:solidFill>
          <a:ln/>
        </p:spPr>
        <p:txBody>
          <a:bodyPr/>
          <a:lstStyle/>
          <a:p>
            <a:endParaRPr lang="en-US"/>
          </a:p>
        </p:txBody>
      </p:sp>
      <p:sp>
        <p:nvSpPr>
          <p:cNvPr id="7" name="Text 5"/>
          <p:cNvSpPr/>
          <p:nvPr/>
        </p:nvSpPr>
        <p:spPr>
          <a:xfrm>
            <a:off x="384048" y="850392"/>
            <a:ext cx="3931920" cy="411480"/>
          </a:xfrm>
          <a:prstGeom prst="rect">
            <a:avLst/>
          </a:prstGeom>
          <a:noFill/>
          <a:ln/>
        </p:spPr>
        <p:txBody>
          <a:bodyPr wrap="square" rtlCol="0" anchor="ctr"/>
          <a:lstStyle/>
          <a:p>
            <a:pPr marL="0" indent="0">
              <a:buNone/>
            </a:pPr>
            <a:r>
              <a:rPr lang="en-US" sz="1100" b="1" dirty="0">
                <a:solidFill>
                  <a:srgbClr val="0A1E4E"/>
                </a:solidFill>
              </a:rPr>
              <a:t>H1: Extra Baggage → Higher Booking Amount out of 7,442 successful bookings</a:t>
            </a:r>
            <a:endParaRPr lang="en-US" sz="1100" dirty="0"/>
          </a:p>
        </p:txBody>
      </p:sp>
      <p:sp>
        <p:nvSpPr>
          <p:cNvPr id="8" name="Text 6"/>
          <p:cNvSpPr/>
          <p:nvPr/>
        </p:nvSpPr>
        <p:spPr>
          <a:xfrm>
            <a:off x="384048" y="1261872"/>
            <a:ext cx="1828800" cy="320040"/>
          </a:xfrm>
          <a:prstGeom prst="rect">
            <a:avLst/>
          </a:prstGeom>
          <a:noFill/>
          <a:ln/>
        </p:spPr>
        <p:txBody>
          <a:bodyPr wrap="square" rtlCol="0" anchor="ctr"/>
          <a:lstStyle/>
          <a:p>
            <a:pPr marL="0" indent="0">
              <a:buNone/>
            </a:pPr>
            <a:r>
              <a:rPr lang="en-US" sz="1000" b="1" dirty="0">
                <a:solidFill>
                  <a:srgbClr val="059669"/>
                </a:solidFill>
              </a:rPr>
              <a:t>✅  SUPPORTED BY DATA</a:t>
            </a:r>
            <a:endParaRPr lang="en-US" sz="1000" dirty="0"/>
          </a:p>
        </p:txBody>
      </p:sp>
      <p:graphicFrame>
        <p:nvGraphicFramePr>
          <p:cNvPr id="9" name="Chart 0"/>
          <p:cNvGraphicFramePr/>
          <p:nvPr>
            <p:extLst>
              <p:ext uri="{D42A27DB-BD31-4B8C-83A1-F6EECF244321}">
                <p14:modId xmlns:p14="http://schemas.microsoft.com/office/powerpoint/2010/main" val="3935160219"/>
              </p:ext>
            </p:extLst>
          </p:nvPr>
        </p:nvGraphicFramePr>
        <p:xfrm>
          <a:off x="274320" y="1572768"/>
          <a:ext cx="4114800" cy="1005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4709160" y="822960"/>
            <a:ext cx="4206240" cy="1828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1" name="Shape 8"/>
          <p:cNvSpPr/>
          <p:nvPr/>
        </p:nvSpPr>
        <p:spPr>
          <a:xfrm>
            <a:off x="4709160" y="822960"/>
            <a:ext cx="73152" cy="1828800"/>
          </a:xfrm>
          <a:prstGeom prst="rect">
            <a:avLst/>
          </a:prstGeom>
          <a:solidFill>
            <a:srgbClr val="F97316"/>
          </a:solidFill>
          <a:ln/>
        </p:spPr>
        <p:txBody>
          <a:bodyPr/>
          <a:lstStyle/>
          <a:p>
            <a:endParaRPr lang="en-US"/>
          </a:p>
        </p:txBody>
      </p:sp>
      <p:sp>
        <p:nvSpPr>
          <p:cNvPr id="12" name="Text 9"/>
          <p:cNvSpPr/>
          <p:nvPr/>
        </p:nvSpPr>
        <p:spPr>
          <a:xfrm>
            <a:off x="4864608" y="850392"/>
            <a:ext cx="3931920" cy="411480"/>
          </a:xfrm>
          <a:prstGeom prst="rect">
            <a:avLst/>
          </a:prstGeom>
          <a:noFill/>
          <a:ln/>
        </p:spPr>
        <p:txBody>
          <a:bodyPr wrap="square" rtlCol="0" anchor="ctr"/>
          <a:lstStyle/>
          <a:p>
            <a:pPr marL="0" indent="0">
              <a:buNone/>
            </a:pPr>
            <a:r>
              <a:rPr lang="en-US" sz="1100" b="1" dirty="0">
                <a:solidFill>
                  <a:srgbClr val="0A1E4E"/>
                </a:solidFill>
              </a:rPr>
              <a:t>H2: In-Flight Meals → Higher Booking Amount</a:t>
            </a:r>
            <a:endParaRPr lang="en-US" sz="1100" dirty="0"/>
          </a:p>
        </p:txBody>
      </p:sp>
      <p:sp>
        <p:nvSpPr>
          <p:cNvPr id="13" name="Text 10"/>
          <p:cNvSpPr/>
          <p:nvPr/>
        </p:nvSpPr>
        <p:spPr>
          <a:xfrm>
            <a:off x="4864608" y="1261872"/>
            <a:ext cx="1828800" cy="320040"/>
          </a:xfrm>
          <a:prstGeom prst="rect">
            <a:avLst/>
          </a:prstGeom>
          <a:noFill/>
          <a:ln/>
        </p:spPr>
        <p:txBody>
          <a:bodyPr wrap="square" rtlCol="0" anchor="ctr"/>
          <a:lstStyle/>
          <a:p>
            <a:pPr marL="0" indent="0">
              <a:buNone/>
            </a:pPr>
            <a:r>
              <a:rPr lang="en-US" sz="1000" b="1" dirty="0">
                <a:solidFill>
                  <a:srgbClr val="059669"/>
                </a:solidFill>
              </a:rPr>
              <a:t>✅  SUPPORTED BY DATA</a:t>
            </a:r>
            <a:endParaRPr lang="en-US" sz="1000" dirty="0"/>
          </a:p>
        </p:txBody>
      </p:sp>
      <p:graphicFrame>
        <p:nvGraphicFramePr>
          <p:cNvPr id="14" name="Chart 1"/>
          <p:cNvGraphicFramePr/>
          <p:nvPr/>
        </p:nvGraphicFramePr>
        <p:xfrm>
          <a:off x="4754880" y="1572768"/>
          <a:ext cx="4114800" cy="1005840"/>
        </p:xfrm>
        <a:graphic>
          <a:graphicData uri="http://schemas.openxmlformats.org/drawingml/2006/chart">
            <c:chart xmlns:c="http://schemas.openxmlformats.org/drawingml/2006/chart" xmlns:r="http://schemas.openxmlformats.org/officeDocument/2006/relationships" r:id="rId4"/>
          </a:graphicData>
        </a:graphic>
      </p:graphicFrame>
      <p:sp>
        <p:nvSpPr>
          <p:cNvPr id="15" name="Shape 11"/>
          <p:cNvSpPr/>
          <p:nvPr/>
        </p:nvSpPr>
        <p:spPr>
          <a:xfrm>
            <a:off x="228600" y="2788920"/>
            <a:ext cx="8686800" cy="1097280"/>
          </a:xfrm>
          <a:prstGeom prst="rect">
            <a:avLst/>
          </a:prstGeom>
          <a:solidFill>
            <a:srgbClr val="F1F5F9"/>
          </a:solidFill>
          <a:ln/>
          <a:effectLst>
            <a:outerShdw blurRad="101600" dist="38100" dir="8100000" algn="bl" rotWithShape="0">
              <a:srgbClr val="000000">
                <a:alpha val="12000"/>
              </a:srgbClr>
            </a:outerShdw>
          </a:effectLst>
        </p:spPr>
        <p:txBody>
          <a:bodyPr/>
          <a:lstStyle/>
          <a:p>
            <a:endParaRPr lang="en-US"/>
          </a:p>
        </p:txBody>
      </p:sp>
      <p:sp>
        <p:nvSpPr>
          <p:cNvPr id="16" name="Text 12"/>
          <p:cNvSpPr/>
          <p:nvPr/>
        </p:nvSpPr>
        <p:spPr>
          <a:xfrm>
            <a:off x="320040" y="2816352"/>
            <a:ext cx="8229600" cy="292608"/>
          </a:xfrm>
          <a:prstGeom prst="rect">
            <a:avLst/>
          </a:prstGeom>
          <a:noFill/>
          <a:ln/>
        </p:spPr>
        <p:txBody>
          <a:bodyPr wrap="square" rtlCol="0" anchor="ctr"/>
          <a:lstStyle/>
          <a:p>
            <a:pPr marL="0" indent="0">
              <a:buNone/>
            </a:pPr>
            <a:r>
              <a:rPr lang="en-US" sz="1100" b="1" dirty="0">
                <a:solidFill>
                  <a:srgbClr val="0A1E4E"/>
                </a:solidFill>
              </a:rPr>
              <a:t>Baggage Conversion Rate by Stay Duration</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26778318"/>
              </p:ext>
            </p:extLst>
          </p:nvPr>
        </p:nvGraphicFramePr>
        <p:xfrm>
          <a:off x="320040" y="3108960"/>
          <a:ext cx="8503920" cy="713232"/>
        </p:xfrm>
        <a:graphic>
          <a:graphicData uri="http://schemas.openxmlformats.org/drawingml/2006/table">
            <a:tbl>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3474720">
                  <a:extLst>
                    <a:ext uri="{9D8B030D-6E8A-4147-A177-3AD203B41FA5}">
                      <a16:colId xmlns:a16="http://schemas.microsoft.com/office/drawing/2014/main" val="20004"/>
                    </a:ext>
                  </a:extLst>
                </a:gridCol>
              </a:tblGrid>
              <a:tr h="237744">
                <a:tc>
                  <a:txBody>
                    <a:bodyPr/>
                    <a:lstStyle/>
                    <a:p>
                      <a:pPr marL="0" indent="0">
                        <a:buNone/>
                      </a:pPr>
                      <a:r>
                        <a:rPr lang="en-US" sz="900" b="1" dirty="0">
                          <a:solidFill>
                            <a:srgbClr val="FFFFFF"/>
                          </a:solidFill>
                        </a:rPr>
                        <a:t>Duration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8F"/>
                    </a:solidFill>
                  </a:tcPr>
                </a:tc>
                <a:tc>
                  <a:txBody>
                    <a:bodyPr/>
                    <a:lstStyle/>
                    <a:p>
                      <a:pPr marL="0" indent="0">
                        <a:buNone/>
                      </a:pPr>
                      <a:r>
                        <a:rPr lang="en-US" sz="900" b="1" dirty="0">
                          <a:solidFill>
                            <a:srgbClr val="FFFFFF"/>
                          </a:solidFill>
                        </a:rPr>
                        <a:t>Booked (baggage)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8F"/>
                    </a:solidFill>
                  </a:tcPr>
                </a:tc>
                <a:tc>
                  <a:txBody>
                    <a:bodyPr/>
                    <a:lstStyle/>
                    <a:p>
                      <a:pPr marL="0" indent="0">
                        <a:buNone/>
                      </a:pPr>
                      <a:r>
                        <a:rPr lang="en-US" sz="900" b="1" dirty="0">
                          <a:solidFill>
                            <a:srgbClr val="FFFFFF"/>
                          </a:solidFill>
                        </a:rPr>
                        <a:t>Total Pax</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8F"/>
                    </a:solidFill>
                  </a:tcPr>
                </a:tc>
                <a:tc>
                  <a:txBody>
                    <a:bodyPr/>
                    <a:lstStyle/>
                    <a:p>
                      <a:pPr marL="0" indent="0">
                        <a:buNone/>
                      </a:pPr>
                      <a:r>
                        <a:rPr lang="en-US" sz="900" b="1" dirty="0">
                          <a:solidFill>
                            <a:srgbClr val="FFFFFF"/>
                          </a:solidFill>
                        </a:rPr>
                        <a:t>Conv. Rate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8F"/>
                    </a:solidFill>
                  </a:tcPr>
                </a:tc>
                <a:tc>
                  <a:txBody>
                    <a:bodyPr/>
                    <a:lstStyle/>
                    <a:p>
                      <a:pPr marL="0" indent="0">
                        <a:buNone/>
                      </a:pPr>
                      <a:r>
                        <a:rPr lang="en-US" sz="900" b="1" dirty="0">
                          <a:solidFill>
                            <a:srgbClr val="FFFFFF"/>
                          </a:solidFill>
                        </a:rPr>
                        <a:t>Insight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8F"/>
                    </a:solidFill>
                  </a:tcPr>
                </a:tc>
                <a:extLst>
                  <a:ext uri="{0D108BD9-81ED-4DB2-BD59-A6C34878D82A}">
                    <a16:rowId xmlns:a16="http://schemas.microsoft.com/office/drawing/2014/main" val="10000"/>
                  </a:ext>
                </a:extLst>
              </a:tr>
              <a:tr h="237744">
                <a:tc>
                  <a:txBody>
                    <a:bodyPr/>
                    <a:lstStyle/>
                    <a:p>
                      <a:pPr marL="0" indent="0">
                        <a:buNone/>
                      </a:pPr>
                      <a:r>
                        <a:rPr lang="en-US" sz="900" dirty="0">
                          <a:solidFill>
                            <a:srgbClr val="000000"/>
                          </a:solidFill>
                        </a:rPr>
                        <a:t>Stay ≤ 15 days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3,228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13,463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23.98%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Short-stay travellers bundle baggage more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00" dirty="0">
                          <a:solidFill>
                            <a:srgbClr val="000000"/>
                          </a:solidFill>
                        </a:rPr>
                        <a:t>Stay &gt; 15 days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2,321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19,976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11.60%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00000"/>
                          </a:solidFill>
                        </a:rPr>
                        <a:t>Longer stays convert at half the rate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8" name="Text 13"/>
          <p:cNvSpPr/>
          <p:nvPr/>
        </p:nvSpPr>
        <p:spPr>
          <a:xfrm>
            <a:off x="228600" y="3977640"/>
            <a:ext cx="8686800" cy="320040"/>
          </a:xfrm>
          <a:prstGeom prst="rect">
            <a:avLst/>
          </a:prstGeom>
          <a:noFill/>
          <a:ln/>
        </p:spPr>
        <p:txBody>
          <a:bodyPr wrap="square" rtlCol="0" anchor="ctr"/>
          <a:lstStyle/>
          <a:p>
            <a:pPr marL="0" indent="0">
              <a:buNone/>
            </a:pPr>
            <a:r>
              <a:rPr lang="en-US" sz="950" b="1" i="1" dirty="0">
                <a:solidFill>
                  <a:srgbClr val="0D9488"/>
                </a:solidFill>
              </a:rPr>
              <a:t>Recommendation: Bundle extra baggage incentives into short-stay economy promotions to maximise conversion uplift.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Booking Trends &amp; Purchase Lead Time</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When Do Customers Book?</a:t>
            </a:r>
            <a:endParaRPr lang="en-US" sz="1000" dirty="0"/>
          </a:p>
        </p:txBody>
      </p:sp>
      <p:graphicFrame>
        <p:nvGraphicFramePr>
          <p:cNvPr id="5" name="Chart 0"/>
          <p:cNvGraphicFramePr/>
          <p:nvPr>
            <p:extLst>
              <p:ext uri="{D42A27DB-BD31-4B8C-83A1-F6EECF244321}">
                <p14:modId xmlns:p14="http://schemas.microsoft.com/office/powerpoint/2010/main" val="350536313"/>
              </p:ext>
            </p:extLst>
          </p:nvPr>
        </p:nvGraphicFramePr>
        <p:xfrm>
          <a:off x="274320" y="777240"/>
          <a:ext cx="4389120" cy="2651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1333857908"/>
              </p:ext>
            </p:extLst>
          </p:nvPr>
        </p:nvGraphicFramePr>
        <p:xfrm>
          <a:off x="4754880" y="777240"/>
          <a:ext cx="411480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28600" y="3547872"/>
            <a:ext cx="4251960" cy="777240"/>
          </a:xfrm>
          <a:prstGeom prst="rect">
            <a:avLst/>
          </a:prstGeom>
          <a:solidFill>
            <a:srgbClr val="FEE2E2"/>
          </a:solidFill>
          <a:ln/>
          <a:effectLst>
            <a:outerShdw blurRad="101600" dist="38100" dir="8100000" algn="bl" rotWithShape="0">
              <a:srgbClr val="000000">
                <a:alpha val="12000"/>
              </a:srgbClr>
            </a:outerShdw>
          </a:effectLst>
        </p:spPr>
        <p:txBody>
          <a:bodyPr/>
          <a:lstStyle/>
          <a:p>
            <a:endParaRPr lang="en-US"/>
          </a:p>
        </p:txBody>
      </p:sp>
      <p:sp>
        <p:nvSpPr>
          <p:cNvPr id="8" name="Text 4"/>
          <p:cNvSpPr/>
          <p:nvPr/>
        </p:nvSpPr>
        <p:spPr>
          <a:xfrm>
            <a:off x="365760" y="3566160"/>
            <a:ext cx="3977640" cy="731520"/>
          </a:xfrm>
          <a:prstGeom prst="rect">
            <a:avLst/>
          </a:prstGeom>
          <a:noFill/>
          <a:ln/>
        </p:spPr>
        <p:txBody>
          <a:bodyPr wrap="square" rtlCol="0" anchor="ctr"/>
          <a:lstStyle/>
          <a:p>
            <a:pPr marL="0" indent="0">
              <a:buNone/>
            </a:pPr>
            <a:r>
              <a:rPr lang="en-US" sz="950" dirty="0">
                <a:solidFill>
                  <a:srgbClr val="991B1B"/>
                </a:solidFill>
              </a:rPr>
              <a:t>❌ H1 NOT SUPPORTED: Long-stay Passengers book LATER (73 days lead) vs. short-stay (87 days). Short-stay travellers secure seats in advance.</a:t>
            </a:r>
            <a:endParaRPr lang="en-US" sz="950" dirty="0"/>
          </a:p>
        </p:txBody>
      </p:sp>
      <p:sp>
        <p:nvSpPr>
          <p:cNvPr id="9" name="Shape 5"/>
          <p:cNvSpPr/>
          <p:nvPr/>
        </p:nvSpPr>
        <p:spPr>
          <a:xfrm>
            <a:off x="4663440" y="3547872"/>
            <a:ext cx="4251960" cy="777240"/>
          </a:xfrm>
          <a:prstGeom prst="rect">
            <a:avLst/>
          </a:prstGeom>
          <a:solidFill>
            <a:srgbClr val="D1FAE5"/>
          </a:solidFill>
          <a:ln/>
          <a:effectLst>
            <a:outerShdw blurRad="101600" dist="38100" dir="8100000" algn="bl" rotWithShape="0">
              <a:srgbClr val="000000">
                <a:alpha val="12000"/>
              </a:srgbClr>
            </a:outerShdw>
          </a:effectLst>
        </p:spPr>
        <p:txBody>
          <a:bodyPr/>
          <a:lstStyle/>
          <a:p>
            <a:endParaRPr lang="en-US"/>
          </a:p>
        </p:txBody>
      </p:sp>
      <p:sp>
        <p:nvSpPr>
          <p:cNvPr id="10" name="Text 6"/>
          <p:cNvSpPr/>
          <p:nvPr/>
        </p:nvSpPr>
        <p:spPr>
          <a:xfrm>
            <a:off x="4800600" y="3566160"/>
            <a:ext cx="3977640" cy="731520"/>
          </a:xfrm>
          <a:prstGeom prst="rect">
            <a:avLst/>
          </a:prstGeom>
          <a:noFill/>
          <a:ln/>
        </p:spPr>
        <p:txBody>
          <a:bodyPr wrap="square" rtlCol="0" anchor="ctr"/>
          <a:lstStyle/>
          <a:p>
            <a:pPr marL="0" indent="0">
              <a:buNone/>
            </a:pPr>
            <a:r>
              <a:rPr lang="en-US" sz="950" dirty="0">
                <a:solidFill>
                  <a:srgbClr val="065F46"/>
                </a:solidFill>
              </a:rPr>
              <a:t>✅ Weekdays dominate: Mon (12,933) vs. Sat (9,387). Saturday is the lowest-load day – pricing opportunity.</a:t>
            </a:r>
            <a:endParaRPr lang="en-US" sz="950" dirty="0"/>
          </a:p>
        </p:txBody>
      </p:sp>
      <p:sp>
        <p:nvSpPr>
          <p:cNvPr id="11" name="Text 7"/>
          <p:cNvSpPr/>
          <p:nvPr/>
        </p:nvSpPr>
        <p:spPr>
          <a:xfrm>
            <a:off x="228600" y="4434840"/>
            <a:ext cx="8686800" cy="502920"/>
          </a:xfrm>
          <a:prstGeom prst="rect">
            <a:avLst/>
          </a:prstGeom>
          <a:noFill/>
          <a:ln/>
        </p:spPr>
        <p:txBody>
          <a:bodyPr wrap="square" rtlCol="0" anchor="ctr"/>
          <a:lstStyle/>
          <a:p>
            <a:pPr marL="0" indent="0">
              <a:buNone/>
            </a:pPr>
            <a:r>
              <a:rPr lang="en-US" sz="1000" b="1" i="1" dirty="0">
                <a:solidFill>
                  <a:srgbClr val="1A3A8F"/>
                </a:solidFill>
              </a:rPr>
              <a:t>Recommendation: Deploy targeted early-bird promotions for short-stay travellers. Incentivise weekend travel with dynamic pricing discounts on Saturdays.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Operational Efficiency Analysis</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Flight Duration Variance – Top Routes</a:t>
            </a:r>
            <a:endParaRPr lang="en-US" sz="1000" dirty="0"/>
          </a:p>
        </p:txBody>
      </p:sp>
      <p:sp>
        <p:nvSpPr>
          <p:cNvPr id="5" name="Text 3"/>
          <p:cNvSpPr/>
          <p:nvPr/>
        </p:nvSpPr>
        <p:spPr>
          <a:xfrm>
            <a:off x="274320" y="804672"/>
            <a:ext cx="5029200" cy="347472"/>
          </a:xfrm>
          <a:prstGeom prst="rect">
            <a:avLst/>
          </a:prstGeom>
          <a:noFill/>
          <a:ln/>
        </p:spPr>
        <p:txBody>
          <a:bodyPr wrap="square" rtlCol="0" anchor="ctr"/>
          <a:lstStyle/>
          <a:p>
            <a:pPr marL="0" indent="0">
              <a:buNone/>
            </a:pPr>
            <a:r>
              <a:rPr lang="en-US" sz="1300" b="1" dirty="0">
                <a:solidFill>
                  <a:srgbClr val="0A1E4E"/>
                </a:solidFill>
              </a:rPr>
              <a:t>Top 6 Airports with Operational Variance Issues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170432"/>
          <a:ext cx="4937760" cy="2331721"/>
        </p:xfrm>
        <a:graphic>
          <a:graphicData uri="http://schemas.openxmlformats.org/drawingml/2006/table">
            <a:tbl>
              <a:tblPr/>
              <a:tblGrid>
                <a:gridCol w="457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33103">
                <a:tc>
                  <a:txBody>
                    <a:bodyPr/>
                    <a:lstStyle/>
                    <a:p>
                      <a:pPr marL="0" indent="0">
                        <a:buNone/>
                      </a:pPr>
                      <a:r>
                        <a:rPr lang="en-US" sz="1000" b="1" dirty="0">
                          <a:solidFill>
                            <a:srgbClr val="FFFFFF"/>
                          </a:solidFill>
                        </a:rPr>
                        <a:t>Rank</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E4E"/>
                    </a:solidFill>
                  </a:tcPr>
                </a:tc>
                <a:tc>
                  <a:txBody>
                    <a:bodyPr/>
                    <a:lstStyle/>
                    <a:p>
                      <a:pPr marL="0" indent="0">
                        <a:buNone/>
                      </a:pPr>
                      <a:r>
                        <a:rPr lang="en-US" sz="1000" b="1" dirty="0">
                          <a:solidFill>
                            <a:srgbClr val="FFFFFF"/>
                          </a:solidFill>
                        </a:rPr>
                        <a:t>Airport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E4E"/>
                    </a:solidFill>
                  </a:tcPr>
                </a:tc>
                <a:tc>
                  <a:txBody>
                    <a:bodyPr/>
                    <a:lstStyle/>
                    <a:p>
                      <a:pPr marL="0" indent="0">
                        <a:buNone/>
                      </a:pPr>
                      <a:r>
                        <a:rPr lang="en-US" sz="1000" b="1" dirty="0">
                          <a:solidFill>
                            <a:srgbClr val="FFFFFF"/>
                          </a:solidFill>
                        </a:rPr>
                        <a:t>Total Flights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E4E"/>
                    </a:solidFill>
                  </a:tcPr>
                </a:tc>
                <a:tc>
                  <a:txBody>
                    <a:bodyPr/>
                    <a:lstStyle/>
                    <a:p>
                      <a:pPr marL="0" indent="0">
                        <a:buNone/>
                      </a:pPr>
                      <a:r>
                        <a:rPr lang="en-US" sz="1000" b="1" dirty="0">
                          <a:solidFill>
                            <a:srgbClr val="FFFFFF"/>
                          </a:solidFill>
                        </a:rPr>
                        <a:t>Variance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E4E"/>
                    </a:solidFill>
                  </a:tcPr>
                </a:tc>
                <a:tc>
                  <a:txBody>
                    <a:bodyPr/>
                    <a:lstStyle/>
                    <a:p>
                      <a:pPr marL="0" indent="0">
                        <a:buNone/>
                      </a:pPr>
                      <a:r>
                        <a:rPr lang="en-US" sz="1000" b="1" dirty="0">
                          <a:solidFill>
                            <a:srgbClr val="FFFFFF"/>
                          </a:solidFill>
                        </a:rPr>
                        <a:t>Status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E4E"/>
                    </a:solidFill>
                  </a:tcPr>
                </a:tc>
                <a:extLst>
                  <a:ext uri="{0D108BD9-81ED-4DB2-BD59-A6C34878D82A}">
                    <a16:rowId xmlns:a16="http://schemas.microsoft.com/office/drawing/2014/main" val="10000"/>
                  </a:ext>
                </a:extLst>
              </a:tr>
              <a:tr h="333103">
                <a:tc>
                  <a:txBody>
                    <a:bodyPr/>
                    <a:lstStyle/>
                    <a:p>
                      <a:pPr marL="0" indent="0">
                        <a:buNone/>
                      </a:pPr>
                      <a:r>
                        <a:rPr lang="en-US" sz="1000" b="1" dirty="0">
                          <a:solidFill>
                            <a:srgbClr val="000000"/>
                          </a:solidFill>
                        </a:rPr>
                        <a:t>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KIX (Kansai)</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2,135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1.80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DC2626"/>
                          </a:solidFill>
                        </a:rPr>
                        <a:t>🔴 Critical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33103">
                <a:tc>
                  <a:txBody>
                    <a:bodyPr/>
                    <a:lstStyle/>
                    <a:p>
                      <a:pPr marL="0" indent="0">
                        <a:buNone/>
                      </a:pPr>
                      <a:r>
                        <a:rPr lang="en-US" sz="1000" b="1" dirty="0">
                          <a:solidFill>
                            <a:srgbClr val="000000"/>
                          </a:solidFill>
                        </a:rPr>
                        <a:t>2</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ICN (Incheon)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3,714</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1.78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DC2626"/>
                          </a:solidFill>
                        </a:rPr>
                        <a:t>🔴 Critical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33103">
                <a:tc>
                  <a:txBody>
                    <a:bodyPr/>
                    <a:lstStyle/>
                    <a:p>
                      <a:pPr marL="0" indent="0">
                        <a:buNone/>
                      </a:pPr>
                      <a:r>
                        <a:rPr lang="en-US" sz="1000" b="1" dirty="0">
                          <a:solidFill>
                            <a:srgbClr val="000000"/>
                          </a:solidFill>
                        </a:rPr>
                        <a:t>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PEK (Beijing)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598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1.68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D97706"/>
                          </a:solidFill>
                        </a:rPr>
                        <a:t>🟠 High</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33103">
                <a:tc>
                  <a:txBody>
                    <a:bodyPr/>
                    <a:lstStyle/>
                    <a:p>
                      <a:pPr marL="0" indent="0">
                        <a:buNone/>
                      </a:pPr>
                      <a:r>
                        <a:rPr lang="en-US" sz="1000" b="1" dirty="0">
                          <a:solidFill>
                            <a:srgbClr val="000000"/>
                          </a:solidFill>
                        </a:rPr>
                        <a:t>4</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HND (Haneda)</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2,027</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1.53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D97706"/>
                          </a:solidFill>
                        </a:rPr>
                        <a:t>🟠 High</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33103">
                <a:tc>
                  <a:txBody>
                    <a:bodyPr/>
                    <a:lstStyle/>
                    <a:p>
                      <a:pPr marL="0" indent="0">
                        <a:buNone/>
                      </a:pPr>
                      <a:r>
                        <a:rPr lang="en-US" sz="1000" b="1" dirty="0">
                          <a:solidFill>
                            <a:srgbClr val="000000"/>
                          </a:solidFill>
                        </a:rPr>
                        <a:t>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PER (Perth)</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3,105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1.28</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CA8A04"/>
                          </a:solidFill>
                        </a:rPr>
                        <a:t>🟡 Medium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333103">
                <a:tc>
                  <a:txBody>
                    <a:bodyPr/>
                    <a:lstStyle/>
                    <a:p>
                      <a:pPr marL="0" indent="0">
                        <a:buNone/>
                      </a:pPr>
                      <a:r>
                        <a:rPr lang="en-US" sz="1000" b="1" dirty="0">
                          <a:solidFill>
                            <a:srgbClr val="000000"/>
                          </a:solidFill>
                        </a:rPr>
                        <a:t>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SYD (Sydney)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4,571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0.92</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59669"/>
                          </a:solidFill>
                        </a:rPr>
                        <a:t>🟡 Monitor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 name="Chart 0"/>
          <p:cNvGraphicFramePr/>
          <p:nvPr>
            <p:extLst>
              <p:ext uri="{D42A27DB-BD31-4B8C-83A1-F6EECF244321}">
                <p14:modId xmlns:p14="http://schemas.microsoft.com/office/powerpoint/2010/main" val="929719580"/>
              </p:ext>
            </p:extLst>
          </p:nvPr>
        </p:nvGraphicFramePr>
        <p:xfrm>
          <a:off x="5303520" y="777240"/>
          <a:ext cx="35661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4"/>
          <p:cNvSpPr/>
          <p:nvPr/>
        </p:nvSpPr>
        <p:spPr>
          <a:xfrm>
            <a:off x="274320" y="3611880"/>
            <a:ext cx="4846320" cy="502920"/>
          </a:xfrm>
          <a:prstGeom prst="rect">
            <a:avLst/>
          </a:prstGeom>
          <a:solidFill>
            <a:srgbClr val="EEF2FF"/>
          </a:solidFill>
          <a:ln/>
          <a:effectLst>
            <a:outerShdw blurRad="101600" dist="38100" dir="8100000" algn="bl" rotWithShape="0">
              <a:srgbClr val="000000">
                <a:alpha val="12000"/>
              </a:srgbClr>
            </a:outerShdw>
          </a:effectLst>
        </p:spPr>
        <p:txBody>
          <a:bodyPr/>
          <a:lstStyle/>
          <a:p>
            <a:endParaRPr lang="en-US"/>
          </a:p>
        </p:txBody>
      </p:sp>
      <p:sp>
        <p:nvSpPr>
          <p:cNvPr id="9" name="Text 5"/>
          <p:cNvSpPr/>
          <p:nvPr/>
        </p:nvSpPr>
        <p:spPr>
          <a:xfrm>
            <a:off x="365760" y="3639312"/>
            <a:ext cx="4663440" cy="438912"/>
          </a:xfrm>
          <a:prstGeom prst="rect">
            <a:avLst/>
          </a:prstGeom>
          <a:noFill/>
          <a:ln/>
        </p:spPr>
        <p:txBody>
          <a:bodyPr wrap="square" rtlCol="0" anchor="ctr"/>
          <a:lstStyle/>
          <a:p>
            <a:r>
              <a:rPr lang="en-US" sz="950" b="1" dirty="0">
                <a:solidFill>
                  <a:srgbClr val="0A1E4E"/>
                </a:solidFill>
              </a:rPr>
              <a:t>#1 Busiest Route: </a:t>
            </a:r>
            <a:r>
              <a:rPr lang="en-US" sz="950" dirty="0">
                <a:solidFill>
                  <a:srgbClr val="64748B"/>
                </a:solidFill>
              </a:rPr>
              <a:t>AKLKUL – 2,680 flights  |  PENTPE – 924 flights  |  MELSGN – 842 flights</a:t>
            </a:r>
            <a:endParaRPr lang="en-US" sz="950" dirty="0"/>
          </a:p>
        </p:txBody>
      </p:sp>
      <p:sp>
        <p:nvSpPr>
          <p:cNvPr id="10" name="Text 6"/>
          <p:cNvSpPr/>
          <p:nvPr/>
        </p:nvSpPr>
        <p:spPr>
          <a:xfrm>
            <a:off x="274320" y="4206240"/>
            <a:ext cx="8595360" cy="685800"/>
          </a:xfrm>
          <a:prstGeom prst="rect">
            <a:avLst/>
          </a:prstGeom>
          <a:noFill/>
          <a:ln/>
        </p:spPr>
        <p:txBody>
          <a:bodyPr wrap="square" rtlCol="0" anchor="ctr"/>
          <a:lstStyle/>
          <a:p>
            <a:pPr marL="0" indent="0">
              <a:buNone/>
            </a:pPr>
            <a:r>
              <a:rPr lang="en-US" sz="1000" b="1" i="1" dirty="0">
                <a:solidFill>
                  <a:srgbClr val="0D9488"/>
                </a:solidFill>
              </a:rPr>
              <a:t>Recommendation: Escalate KIX and ICN to operational management. Variance reduction reduces fuel &amp; operating costs and improves passenger satisfaction scores.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Passenger Load by Day &amp; Time Segment</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When Do Passengers Fly?</a:t>
            </a:r>
            <a:endParaRPr lang="en-US" sz="1000" dirty="0"/>
          </a:p>
        </p:txBody>
      </p:sp>
      <p:graphicFrame>
        <p:nvGraphicFramePr>
          <p:cNvPr id="5" name="Chart 0"/>
          <p:cNvGraphicFramePr/>
          <p:nvPr>
            <p:extLst>
              <p:ext uri="{D42A27DB-BD31-4B8C-83A1-F6EECF244321}">
                <p14:modId xmlns:p14="http://schemas.microsoft.com/office/powerpoint/2010/main" val="3268577775"/>
              </p:ext>
            </p:extLst>
          </p:nvPr>
        </p:nvGraphicFramePr>
        <p:xfrm>
          <a:off x="274320" y="777240"/>
          <a:ext cx="5943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355080" y="960120"/>
            <a:ext cx="2560320" cy="914400"/>
          </a:xfrm>
          <a:prstGeom prst="rect">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7" name="Text 4"/>
          <p:cNvSpPr/>
          <p:nvPr/>
        </p:nvSpPr>
        <p:spPr>
          <a:xfrm>
            <a:off x="6446520" y="1005840"/>
            <a:ext cx="2377440" cy="320040"/>
          </a:xfrm>
          <a:prstGeom prst="rect">
            <a:avLst/>
          </a:prstGeom>
          <a:noFill/>
          <a:ln/>
        </p:spPr>
        <p:txBody>
          <a:bodyPr wrap="square" lIns="0" tIns="0" rIns="0" bIns="0" rtlCol="0" anchor="ctr"/>
          <a:lstStyle/>
          <a:p>
            <a:pPr marL="0" indent="0">
              <a:buNone/>
            </a:pPr>
            <a:r>
              <a:rPr lang="en-US" sz="1400" b="1" dirty="0">
                <a:solidFill>
                  <a:srgbClr val="FFFFFF"/>
                </a:solidFill>
              </a:rPr>
              <a:t>Monday</a:t>
            </a:r>
            <a:endParaRPr lang="en-US" sz="1400" dirty="0"/>
          </a:p>
        </p:txBody>
      </p:sp>
      <p:sp>
        <p:nvSpPr>
          <p:cNvPr id="8" name="Text 5"/>
          <p:cNvSpPr/>
          <p:nvPr/>
        </p:nvSpPr>
        <p:spPr>
          <a:xfrm>
            <a:off x="6446520" y="1307592"/>
            <a:ext cx="2377440" cy="274320"/>
          </a:xfrm>
          <a:prstGeom prst="rect">
            <a:avLst/>
          </a:prstGeom>
          <a:noFill/>
          <a:ln/>
        </p:spPr>
        <p:txBody>
          <a:bodyPr wrap="square" lIns="0" tIns="0" rIns="0" bIns="0" rtlCol="0" anchor="ctr"/>
          <a:lstStyle/>
          <a:p>
            <a:pPr marL="0" indent="0">
              <a:buNone/>
            </a:pPr>
            <a:r>
              <a:rPr lang="en-US" sz="1100" dirty="0">
                <a:solidFill>
                  <a:srgbClr val="FFFFFF"/>
                </a:solidFill>
              </a:rPr>
              <a:t>12,933</a:t>
            </a:r>
            <a:endParaRPr lang="en-US" sz="1100" dirty="0"/>
          </a:p>
        </p:txBody>
      </p:sp>
      <p:sp>
        <p:nvSpPr>
          <p:cNvPr id="9" name="Text 6"/>
          <p:cNvSpPr/>
          <p:nvPr/>
        </p:nvSpPr>
        <p:spPr>
          <a:xfrm>
            <a:off x="6446520" y="1581912"/>
            <a:ext cx="2377440" cy="228600"/>
          </a:xfrm>
          <a:prstGeom prst="rect">
            <a:avLst/>
          </a:prstGeom>
          <a:noFill/>
          <a:ln/>
        </p:spPr>
        <p:txBody>
          <a:bodyPr wrap="square" lIns="0" tIns="0" rIns="0" bIns="0" rtlCol="0" anchor="ctr"/>
          <a:lstStyle/>
          <a:p>
            <a:pPr marL="0" indent="0">
              <a:buNone/>
            </a:pPr>
            <a:r>
              <a:rPr lang="en-US" sz="900" b="1" dirty="0">
                <a:solidFill>
                  <a:srgbClr val="FBBF24"/>
                </a:solidFill>
              </a:rPr>
              <a:t>Peak Day</a:t>
            </a:r>
            <a:endParaRPr lang="en-US" sz="900" dirty="0"/>
          </a:p>
        </p:txBody>
      </p:sp>
      <p:sp>
        <p:nvSpPr>
          <p:cNvPr id="10" name="Shape 7"/>
          <p:cNvSpPr/>
          <p:nvPr/>
        </p:nvSpPr>
        <p:spPr>
          <a:xfrm>
            <a:off x="6355080" y="2103120"/>
            <a:ext cx="2560320" cy="914400"/>
          </a:xfrm>
          <a:prstGeom prst="rect">
            <a:avLst/>
          </a:prstGeom>
          <a:solidFill>
            <a:schemeClr val="accent2">
              <a:lumMod val="75000"/>
            </a:schemeClr>
          </a:solidFill>
          <a:ln/>
          <a:effectLst>
            <a:outerShdw blurRad="101600" dist="38100" dir="8100000" algn="bl" rotWithShape="0">
              <a:srgbClr val="000000">
                <a:alpha val="12000"/>
              </a:srgbClr>
            </a:outerShdw>
          </a:effectLst>
        </p:spPr>
        <p:txBody>
          <a:bodyPr/>
          <a:lstStyle/>
          <a:p>
            <a:endParaRPr lang="en-US"/>
          </a:p>
        </p:txBody>
      </p:sp>
      <p:sp>
        <p:nvSpPr>
          <p:cNvPr id="11" name="Text 8"/>
          <p:cNvSpPr/>
          <p:nvPr/>
        </p:nvSpPr>
        <p:spPr>
          <a:xfrm>
            <a:off x="6446520" y="2148840"/>
            <a:ext cx="2377440" cy="320040"/>
          </a:xfrm>
          <a:prstGeom prst="rect">
            <a:avLst/>
          </a:prstGeom>
          <a:noFill/>
          <a:ln/>
        </p:spPr>
        <p:txBody>
          <a:bodyPr wrap="square" lIns="0" tIns="0" rIns="0" bIns="0" rtlCol="0" anchor="ctr"/>
          <a:lstStyle/>
          <a:p>
            <a:pPr marL="0" indent="0">
              <a:buNone/>
            </a:pPr>
            <a:r>
              <a:rPr lang="en-US" sz="1400" b="1" dirty="0">
                <a:solidFill>
                  <a:srgbClr val="FFFFFF"/>
                </a:solidFill>
              </a:rPr>
              <a:t>Saturday</a:t>
            </a:r>
            <a:endParaRPr lang="en-US" sz="1400" dirty="0"/>
          </a:p>
        </p:txBody>
      </p:sp>
      <p:sp>
        <p:nvSpPr>
          <p:cNvPr id="12" name="Text 9"/>
          <p:cNvSpPr/>
          <p:nvPr/>
        </p:nvSpPr>
        <p:spPr>
          <a:xfrm>
            <a:off x="6446520" y="2450592"/>
            <a:ext cx="2377440" cy="274320"/>
          </a:xfrm>
          <a:prstGeom prst="rect">
            <a:avLst/>
          </a:prstGeom>
          <a:noFill/>
          <a:ln/>
        </p:spPr>
        <p:txBody>
          <a:bodyPr wrap="square" lIns="0" tIns="0" rIns="0" bIns="0" rtlCol="0" anchor="ctr"/>
          <a:lstStyle/>
          <a:p>
            <a:pPr marL="0" indent="0">
              <a:buNone/>
            </a:pPr>
            <a:r>
              <a:rPr lang="en-US" sz="1100" dirty="0">
                <a:solidFill>
                  <a:srgbClr val="FFFFFF"/>
                </a:solidFill>
              </a:rPr>
              <a:t>9,387</a:t>
            </a:r>
            <a:endParaRPr lang="en-US" sz="1100" dirty="0"/>
          </a:p>
        </p:txBody>
      </p:sp>
      <p:sp>
        <p:nvSpPr>
          <p:cNvPr id="13" name="Text 10"/>
          <p:cNvSpPr/>
          <p:nvPr/>
        </p:nvSpPr>
        <p:spPr>
          <a:xfrm>
            <a:off x="6446520" y="2724912"/>
            <a:ext cx="2377440" cy="228600"/>
          </a:xfrm>
          <a:prstGeom prst="rect">
            <a:avLst/>
          </a:prstGeom>
          <a:noFill/>
          <a:ln/>
        </p:spPr>
        <p:txBody>
          <a:bodyPr wrap="square" lIns="0" tIns="0" rIns="0" bIns="0" rtlCol="0" anchor="ctr"/>
          <a:lstStyle/>
          <a:p>
            <a:pPr marL="0" indent="0">
              <a:buNone/>
            </a:pPr>
            <a:r>
              <a:rPr lang="en-US" sz="900" b="1" dirty="0">
                <a:solidFill>
                  <a:schemeClr val="bg2"/>
                </a:solidFill>
              </a:rPr>
              <a:t>Lowest Day</a:t>
            </a:r>
            <a:endParaRPr lang="en-US" sz="900" dirty="0">
              <a:solidFill>
                <a:schemeClr val="bg2"/>
              </a:solidFill>
            </a:endParaRPr>
          </a:p>
        </p:txBody>
      </p:sp>
      <p:sp>
        <p:nvSpPr>
          <p:cNvPr id="14" name="Shape 11"/>
          <p:cNvSpPr/>
          <p:nvPr/>
        </p:nvSpPr>
        <p:spPr>
          <a:xfrm>
            <a:off x="6355080" y="3246120"/>
            <a:ext cx="2560320" cy="914400"/>
          </a:xfrm>
          <a:prstGeom prst="rect">
            <a:avLst/>
          </a:prstGeom>
          <a:solidFill>
            <a:srgbClr val="0D9488"/>
          </a:solidFill>
          <a:ln/>
          <a:effectLst>
            <a:outerShdw blurRad="101600" dist="38100" dir="8100000" algn="bl" rotWithShape="0">
              <a:srgbClr val="000000">
                <a:alpha val="12000"/>
              </a:srgbClr>
            </a:outerShdw>
          </a:effectLst>
        </p:spPr>
        <p:txBody>
          <a:bodyPr/>
          <a:lstStyle/>
          <a:p>
            <a:endParaRPr lang="en-US"/>
          </a:p>
        </p:txBody>
      </p:sp>
      <p:sp>
        <p:nvSpPr>
          <p:cNvPr id="15" name="Text 12"/>
          <p:cNvSpPr/>
          <p:nvPr/>
        </p:nvSpPr>
        <p:spPr>
          <a:xfrm>
            <a:off x="6446520" y="3291840"/>
            <a:ext cx="2377440" cy="320040"/>
          </a:xfrm>
          <a:prstGeom prst="rect">
            <a:avLst/>
          </a:prstGeom>
          <a:noFill/>
          <a:ln/>
        </p:spPr>
        <p:txBody>
          <a:bodyPr wrap="square" lIns="0" tIns="0" rIns="0" bIns="0" rtlCol="0" anchor="ctr"/>
          <a:lstStyle/>
          <a:p>
            <a:pPr marL="0" indent="0">
              <a:buNone/>
            </a:pPr>
            <a:r>
              <a:rPr lang="en-US" sz="1400" b="1" dirty="0">
                <a:solidFill>
                  <a:srgbClr val="FFFFFF"/>
                </a:solidFill>
              </a:rPr>
              <a:t>Morning  (Day_Segment)</a:t>
            </a:r>
            <a:endParaRPr lang="en-US" sz="1400" dirty="0"/>
          </a:p>
        </p:txBody>
      </p:sp>
      <p:sp>
        <p:nvSpPr>
          <p:cNvPr id="16" name="Text 13"/>
          <p:cNvSpPr/>
          <p:nvPr/>
        </p:nvSpPr>
        <p:spPr>
          <a:xfrm>
            <a:off x="6446520" y="3593592"/>
            <a:ext cx="2377440" cy="274320"/>
          </a:xfrm>
          <a:prstGeom prst="rect">
            <a:avLst/>
          </a:prstGeom>
          <a:noFill/>
          <a:ln/>
        </p:spPr>
        <p:txBody>
          <a:bodyPr wrap="square" lIns="0" tIns="0" rIns="0" bIns="0" rtlCol="0" anchor="ctr"/>
          <a:lstStyle/>
          <a:p>
            <a:pPr marL="0" indent="0">
              <a:buNone/>
            </a:pPr>
            <a:r>
              <a:rPr lang="en-US" sz="1100" dirty="0">
                <a:solidFill>
                  <a:srgbClr val="FFFFFF"/>
                </a:solidFill>
              </a:rPr>
              <a:t>Highest Load Slot</a:t>
            </a:r>
            <a:endParaRPr lang="en-US" sz="1100" dirty="0"/>
          </a:p>
        </p:txBody>
      </p:sp>
      <p:sp>
        <p:nvSpPr>
          <p:cNvPr id="17" name="Text 14"/>
          <p:cNvSpPr/>
          <p:nvPr/>
        </p:nvSpPr>
        <p:spPr>
          <a:xfrm>
            <a:off x="6446520" y="3867912"/>
            <a:ext cx="2377440" cy="228600"/>
          </a:xfrm>
          <a:prstGeom prst="rect">
            <a:avLst/>
          </a:prstGeom>
          <a:noFill/>
          <a:ln/>
        </p:spPr>
        <p:txBody>
          <a:bodyPr wrap="square" lIns="0" tIns="0" rIns="0" bIns="0" rtlCol="0" anchor="ctr"/>
          <a:lstStyle/>
          <a:p>
            <a:pPr marL="0" indent="0">
              <a:buNone/>
            </a:pPr>
            <a:r>
              <a:rPr lang="en-US" sz="900" b="1" dirty="0">
                <a:solidFill>
                  <a:srgbClr val="FBBF24"/>
                </a:solidFill>
              </a:rPr>
              <a:t>All Weekdays</a:t>
            </a:r>
            <a:endParaRPr lang="en-US" sz="900" dirty="0"/>
          </a:p>
        </p:txBody>
      </p:sp>
      <p:sp>
        <p:nvSpPr>
          <p:cNvPr id="18" name="Text 15"/>
          <p:cNvSpPr/>
          <p:nvPr/>
        </p:nvSpPr>
        <p:spPr>
          <a:xfrm>
            <a:off x="274320" y="4069080"/>
            <a:ext cx="8595360" cy="411480"/>
          </a:xfrm>
          <a:prstGeom prst="rect">
            <a:avLst/>
          </a:prstGeom>
          <a:noFill/>
          <a:ln/>
        </p:spPr>
        <p:txBody>
          <a:bodyPr wrap="square" rtlCol="0" anchor="ctr"/>
          <a:lstStyle/>
          <a:p>
            <a:pPr marL="0" indent="0">
              <a:buNone/>
            </a:pPr>
            <a:r>
              <a:rPr lang="en-US" sz="1000" b="1" dirty="0">
                <a:solidFill>
                  <a:srgbClr val="065F46"/>
                </a:solidFill>
              </a:rPr>
              <a:t>✅ H2 SUPPORTED: Morning flights across all weekdays carry the highest passenger load. Weekdays dominate vs. weekends.</a:t>
            </a:r>
            <a:endParaRPr lang="en-US" sz="1000" dirty="0"/>
          </a:p>
        </p:txBody>
      </p:sp>
      <p:sp>
        <p:nvSpPr>
          <p:cNvPr id="19" name="Text 16"/>
          <p:cNvSpPr/>
          <p:nvPr/>
        </p:nvSpPr>
        <p:spPr>
          <a:xfrm>
            <a:off x="274320" y="4526280"/>
            <a:ext cx="8595360" cy="457200"/>
          </a:xfrm>
          <a:prstGeom prst="rect">
            <a:avLst/>
          </a:prstGeom>
          <a:noFill/>
          <a:ln/>
        </p:spPr>
        <p:txBody>
          <a:bodyPr wrap="square" rtlCol="0" anchor="ctr"/>
          <a:lstStyle/>
          <a:p>
            <a:pPr marL="0" indent="0">
              <a:buNone/>
            </a:pPr>
            <a:r>
              <a:rPr lang="en-US" sz="950" i="1" dirty="0">
                <a:solidFill>
                  <a:srgbClr val="1A3A8F"/>
                </a:solidFill>
              </a:rPr>
              <a:t>Recommendation: Optimise morning slot pricing on Monday–Thursday with premium pricing. Stimulate Saturday bookings with seat sales &amp; promotions.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E4E"/>
          </a:solidFill>
          <a:ln/>
        </p:spPr>
        <p:txBody>
          <a:bodyPr/>
          <a:lstStyle/>
          <a:p>
            <a:endParaRPr lang="en-US"/>
          </a:p>
        </p:txBody>
      </p:sp>
      <p:sp>
        <p:nvSpPr>
          <p:cNvPr id="3" name="Text 1"/>
          <p:cNvSpPr/>
          <p:nvPr/>
        </p:nvSpPr>
        <p:spPr>
          <a:xfrm>
            <a:off x="274320" y="0"/>
            <a:ext cx="6858000" cy="685800"/>
          </a:xfrm>
          <a:prstGeom prst="rect">
            <a:avLst/>
          </a:prstGeom>
          <a:noFill/>
          <a:ln/>
        </p:spPr>
        <p:txBody>
          <a:bodyPr wrap="square" lIns="0" tIns="0" rIns="0" bIns="0" rtlCol="0" anchor="ctr"/>
          <a:lstStyle/>
          <a:p>
            <a:pPr marL="0" indent="0">
              <a:buNone/>
            </a:pPr>
            <a:r>
              <a:rPr lang="en-US" sz="2000" b="1" dirty="0">
                <a:solidFill>
                  <a:srgbClr val="FFFFFF"/>
                </a:solidFill>
              </a:rPr>
              <a:t>Seat Class Deep Dive</a:t>
            </a:r>
            <a:endParaRPr lang="en-US" sz="2000" dirty="0"/>
          </a:p>
        </p:txBody>
      </p:sp>
      <p:sp>
        <p:nvSpPr>
          <p:cNvPr id="4" name="Text 2"/>
          <p:cNvSpPr/>
          <p:nvPr/>
        </p:nvSpPr>
        <p:spPr>
          <a:xfrm>
            <a:off x="6858000" y="0"/>
            <a:ext cx="2011680" cy="685800"/>
          </a:xfrm>
          <a:prstGeom prst="rect">
            <a:avLst/>
          </a:prstGeom>
          <a:noFill/>
          <a:ln/>
        </p:spPr>
        <p:txBody>
          <a:bodyPr wrap="square" lIns="0" tIns="0" rIns="0" bIns="0" rtlCol="0" anchor="ctr"/>
          <a:lstStyle/>
          <a:p>
            <a:pPr marL="0" indent="0" algn="r">
              <a:buNone/>
            </a:pPr>
            <a:r>
              <a:rPr lang="en-US" sz="1000" dirty="0">
                <a:solidFill>
                  <a:srgbClr val="AABCDD"/>
                </a:solidFill>
              </a:rPr>
              <a:t>Revenue, Booking Amount &amp; Purchase Lead</a:t>
            </a:r>
            <a:endParaRPr lang="en-US" sz="1000" dirty="0"/>
          </a:p>
        </p:txBody>
      </p:sp>
      <p:graphicFrame>
        <p:nvGraphicFramePr>
          <p:cNvPr id="5" name="Chart 0"/>
          <p:cNvGraphicFramePr/>
          <p:nvPr>
            <p:extLst>
              <p:ext uri="{D42A27DB-BD31-4B8C-83A1-F6EECF244321}">
                <p14:modId xmlns:p14="http://schemas.microsoft.com/office/powerpoint/2010/main" val="2291329410"/>
              </p:ext>
            </p:extLst>
          </p:nvPr>
        </p:nvGraphicFramePr>
        <p:xfrm>
          <a:off x="274320" y="777240"/>
          <a:ext cx="411480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1076316869"/>
              </p:ext>
            </p:extLst>
          </p:nvPr>
        </p:nvGraphicFramePr>
        <p:xfrm>
          <a:off x="4663440" y="777240"/>
          <a:ext cx="411480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74320" y="3200400"/>
            <a:ext cx="8595360" cy="914400"/>
          </a:xfrm>
          <a:prstGeom prst="rect">
            <a:avLst/>
          </a:prstGeom>
          <a:solidFill>
            <a:srgbClr val="FEE2E2"/>
          </a:solidFill>
          <a:ln/>
          <a:effectLst>
            <a:outerShdw blurRad="101600" dist="38100" dir="8100000" algn="bl" rotWithShape="0">
              <a:srgbClr val="000000">
                <a:alpha val="12000"/>
              </a:srgbClr>
            </a:outerShdw>
          </a:effectLst>
        </p:spPr>
        <p:txBody>
          <a:bodyPr/>
          <a:lstStyle/>
          <a:p>
            <a:endParaRPr lang="en-US"/>
          </a:p>
        </p:txBody>
      </p:sp>
      <p:sp>
        <p:nvSpPr>
          <p:cNvPr id="8" name="Text 4"/>
          <p:cNvSpPr/>
          <p:nvPr/>
        </p:nvSpPr>
        <p:spPr>
          <a:xfrm>
            <a:off x="411480" y="3246120"/>
            <a:ext cx="8321040" cy="822960"/>
          </a:xfrm>
          <a:prstGeom prst="rect">
            <a:avLst/>
          </a:prstGeom>
          <a:noFill/>
          <a:ln/>
        </p:spPr>
        <p:txBody>
          <a:bodyPr wrap="square" rtlCol="0" anchor="ctr"/>
          <a:lstStyle/>
          <a:p>
            <a:pPr marL="0" indent="0">
              <a:buNone/>
            </a:pPr>
            <a:r>
              <a:rPr lang="en-US" sz="1000" b="1" dirty="0">
                <a:solidFill>
                  <a:srgbClr val="991B1B"/>
                </a:solidFill>
              </a:rPr>
              <a:t>❌  H (Business class books earlier) NOT SUPPORTED:  </a:t>
            </a:r>
            <a:r>
              <a:rPr lang="en-US" sz="1000" dirty="0">
                <a:solidFill>
                  <a:srgbClr val="7F1D1D"/>
                </a:solidFill>
              </a:rPr>
              <a:t>Purchase lead is nearly identical across all three seat classes (Business: 84.6 days, Premium Economy: 85.3 days, Economy: 85.0 days). Seat class does NOT predict advance booking Behaviour — other factors such as trip purpose or route drive lead time.</a:t>
            </a:r>
            <a:endParaRPr lang="en-US" sz="1000" dirty="0"/>
          </a:p>
        </p:txBody>
      </p:sp>
      <p:sp>
        <p:nvSpPr>
          <p:cNvPr id="9" name="Text 5"/>
          <p:cNvSpPr/>
          <p:nvPr/>
        </p:nvSpPr>
        <p:spPr>
          <a:xfrm>
            <a:off x="274320" y="4224528"/>
            <a:ext cx="8595360" cy="502920"/>
          </a:xfrm>
          <a:prstGeom prst="rect">
            <a:avLst/>
          </a:prstGeom>
          <a:noFill/>
          <a:ln/>
        </p:spPr>
        <p:txBody>
          <a:bodyPr wrap="square" rtlCol="0" anchor="ctr"/>
          <a:lstStyle/>
          <a:p>
            <a:pPr marL="0" indent="0">
              <a:buNone/>
            </a:pPr>
            <a:r>
              <a:rPr lang="en-US" sz="1000" b="1" i="1" dirty="0">
                <a:solidFill>
                  <a:srgbClr val="1A3A8F"/>
                </a:solidFill>
              </a:rPr>
              <a:t>Recommendation: Do not segment advance-booking campaigns by seat class. Instead, focus on route type and trip duration as predictors of purchase lead time.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E4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0"/>
            <a:ext cx="8229600" cy="685800"/>
          </a:xfrm>
          <a:prstGeom prst="rect">
            <a:avLst/>
          </a:prstGeom>
          <a:noFill/>
          <a:ln/>
        </p:spPr>
        <p:txBody>
          <a:bodyPr wrap="square" rtlCol="0" anchor="ctr"/>
          <a:lstStyle/>
          <a:p>
            <a:pPr marL="0" indent="0">
              <a:buNone/>
            </a:pPr>
            <a:r>
              <a:rPr lang="en-US" sz="2200" b="1" dirty="0">
                <a:solidFill>
                  <a:srgbClr val="FFFFFF"/>
                </a:solidFill>
              </a:rPr>
              <a:t>Key Recommendations</a:t>
            </a:r>
            <a:endParaRPr lang="en-US" sz="2200" dirty="0"/>
          </a:p>
        </p:txBody>
      </p:sp>
      <p:sp>
        <p:nvSpPr>
          <p:cNvPr id="4" name="Text 2"/>
          <p:cNvSpPr/>
          <p:nvPr/>
        </p:nvSpPr>
        <p:spPr>
          <a:xfrm>
            <a:off x="274320" y="658368"/>
            <a:ext cx="8229600" cy="347472"/>
          </a:xfrm>
          <a:prstGeom prst="rect">
            <a:avLst/>
          </a:prstGeom>
          <a:noFill/>
          <a:ln/>
        </p:spPr>
        <p:txBody>
          <a:bodyPr wrap="square" rtlCol="0" anchor="ctr"/>
          <a:lstStyle/>
          <a:p>
            <a:pPr marL="0" indent="0">
              <a:buNone/>
            </a:pPr>
            <a:r>
              <a:rPr lang="en-US" sz="1100" i="1" dirty="0">
                <a:solidFill>
                  <a:srgbClr val="7A9FCC"/>
                </a:solidFill>
              </a:rPr>
              <a:t>Strategic actions derived from booking data analysis</a:t>
            </a:r>
            <a:endParaRPr lang="en-US" sz="1100" dirty="0"/>
          </a:p>
        </p:txBody>
      </p:sp>
      <p:sp>
        <p:nvSpPr>
          <p:cNvPr id="5" name="Shape 3"/>
          <p:cNvSpPr/>
          <p:nvPr/>
        </p:nvSpPr>
        <p:spPr>
          <a:xfrm>
            <a:off x="228600" y="1078992"/>
            <a:ext cx="4251960" cy="1051560"/>
          </a:xfrm>
          <a:prstGeom prst="rect">
            <a:avLst/>
          </a:prstGeom>
          <a:solidFill>
            <a:srgbClr val="1E3A6E"/>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38328" y="1152144"/>
            <a:ext cx="914400" cy="274320"/>
          </a:xfrm>
          <a:prstGeom prst="rect">
            <a:avLst/>
          </a:prstGeom>
          <a:noFill/>
          <a:ln/>
        </p:spPr>
        <p:txBody>
          <a:bodyPr wrap="square" lIns="0" tIns="0" rIns="0" bIns="0" rtlCol="0" anchor="ctr"/>
          <a:lstStyle/>
          <a:p>
            <a:pPr marL="0" indent="0">
              <a:buNone/>
            </a:pPr>
            <a:r>
              <a:rPr lang="en-US" sz="1100" b="1" dirty="0">
                <a:solidFill>
                  <a:srgbClr val="FBBF24"/>
                </a:solidFill>
              </a:rPr>
              <a:t>💼 01</a:t>
            </a:r>
            <a:endParaRPr lang="en-US" sz="1100" dirty="0"/>
          </a:p>
        </p:txBody>
      </p:sp>
      <p:sp>
        <p:nvSpPr>
          <p:cNvPr id="7" name="Text 5"/>
          <p:cNvSpPr/>
          <p:nvPr/>
        </p:nvSpPr>
        <p:spPr>
          <a:xfrm>
            <a:off x="338328" y="1408176"/>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Monetise Business Class</a:t>
            </a:r>
            <a:endParaRPr lang="en-US" sz="1100" dirty="0"/>
          </a:p>
        </p:txBody>
      </p:sp>
      <p:sp>
        <p:nvSpPr>
          <p:cNvPr id="8" name="Text 6"/>
          <p:cNvSpPr/>
          <p:nvPr/>
        </p:nvSpPr>
        <p:spPr>
          <a:xfrm>
            <a:off x="338328" y="1673352"/>
            <a:ext cx="4023360" cy="438912"/>
          </a:xfrm>
          <a:prstGeom prst="rect">
            <a:avLst/>
          </a:prstGeom>
          <a:noFill/>
          <a:ln/>
        </p:spPr>
        <p:txBody>
          <a:bodyPr wrap="square" lIns="0" tIns="0" rIns="0" bIns="0" rtlCol="0" anchor="ctr"/>
          <a:lstStyle/>
          <a:p>
            <a:pPr marL="0" indent="0">
              <a:buNone/>
            </a:pPr>
            <a:r>
              <a:rPr lang="en-US" sz="850" dirty="0">
                <a:solidFill>
                  <a:srgbClr val="AABCDD"/>
                </a:solidFill>
              </a:rPr>
              <a:t>Business class drives 42% revenue. Introduce loyalty perks, lounge tie-ins &amp; upgrade pathways to grow this segment further.</a:t>
            </a:r>
            <a:endParaRPr lang="en-US" sz="850" dirty="0"/>
          </a:p>
        </p:txBody>
      </p:sp>
      <p:sp>
        <p:nvSpPr>
          <p:cNvPr id="9" name="Shape 7"/>
          <p:cNvSpPr/>
          <p:nvPr/>
        </p:nvSpPr>
        <p:spPr>
          <a:xfrm>
            <a:off x="4709160" y="1078992"/>
            <a:ext cx="4251960" cy="1051560"/>
          </a:xfrm>
          <a:prstGeom prst="rect">
            <a:avLst/>
          </a:prstGeom>
          <a:solidFill>
            <a:srgbClr val="0A4A40"/>
          </a:solidFill>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4818888" y="1152144"/>
            <a:ext cx="914400" cy="274320"/>
          </a:xfrm>
          <a:prstGeom prst="rect">
            <a:avLst/>
          </a:prstGeom>
          <a:noFill/>
          <a:ln/>
        </p:spPr>
        <p:txBody>
          <a:bodyPr wrap="square" lIns="0" tIns="0" rIns="0" bIns="0" rtlCol="0" anchor="ctr"/>
          <a:lstStyle/>
          <a:p>
            <a:pPr marL="0" indent="0">
              <a:buNone/>
            </a:pPr>
            <a:r>
              <a:rPr lang="en-US" sz="1100" b="1" dirty="0">
                <a:solidFill>
                  <a:srgbClr val="FBBF24"/>
                </a:solidFill>
              </a:rPr>
              <a:t>📱 02</a:t>
            </a:r>
            <a:endParaRPr lang="en-US" sz="1100" dirty="0"/>
          </a:p>
        </p:txBody>
      </p:sp>
      <p:sp>
        <p:nvSpPr>
          <p:cNvPr id="11" name="Text 9"/>
          <p:cNvSpPr/>
          <p:nvPr/>
        </p:nvSpPr>
        <p:spPr>
          <a:xfrm>
            <a:off x="4818888" y="1408176"/>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Invest in Mobile Channel</a:t>
            </a:r>
            <a:endParaRPr lang="en-US" sz="1100" dirty="0"/>
          </a:p>
        </p:txBody>
      </p:sp>
      <p:sp>
        <p:nvSpPr>
          <p:cNvPr id="12" name="Text 10"/>
          <p:cNvSpPr/>
          <p:nvPr/>
        </p:nvSpPr>
        <p:spPr>
          <a:xfrm>
            <a:off x="4818888" y="1673352"/>
            <a:ext cx="4023360" cy="438912"/>
          </a:xfrm>
          <a:prstGeom prst="rect">
            <a:avLst/>
          </a:prstGeom>
          <a:noFill/>
          <a:ln/>
        </p:spPr>
        <p:txBody>
          <a:bodyPr wrap="square" lIns="0" tIns="0" rIns="0" bIns="0" rtlCol="0" anchor="ctr"/>
          <a:lstStyle/>
          <a:p>
            <a:pPr marL="0" indent="0">
              <a:buNone/>
            </a:pPr>
            <a:r>
              <a:rPr lang="en-US" sz="850" dirty="0">
                <a:solidFill>
                  <a:srgbClr val="AABCDD"/>
                </a:solidFill>
              </a:rPr>
              <a:t>Mobile accounts for only 8.3% of revenue. A seamless mobile app experience &amp; app-exclusive deals could double mobile conversions.</a:t>
            </a:r>
            <a:endParaRPr lang="en-US" sz="850" dirty="0"/>
          </a:p>
        </p:txBody>
      </p:sp>
      <p:sp>
        <p:nvSpPr>
          <p:cNvPr id="13" name="Shape 11"/>
          <p:cNvSpPr/>
          <p:nvPr/>
        </p:nvSpPr>
        <p:spPr>
          <a:xfrm>
            <a:off x="228600" y="2267712"/>
            <a:ext cx="4251960" cy="1051560"/>
          </a:xfrm>
          <a:prstGeom prst="rect">
            <a:avLst/>
          </a:prstGeom>
          <a:solidFill>
            <a:srgbClr val="4A1A2C"/>
          </a:solid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338328" y="2340864"/>
            <a:ext cx="914400" cy="274320"/>
          </a:xfrm>
          <a:prstGeom prst="rect">
            <a:avLst/>
          </a:prstGeom>
          <a:noFill/>
          <a:ln/>
        </p:spPr>
        <p:txBody>
          <a:bodyPr wrap="square" lIns="0" tIns="0" rIns="0" bIns="0" rtlCol="0" anchor="ctr"/>
          <a:lstStyle/>
          <a:p>
            <a:pPr marL="0" indent="0">
              <a:buNone/>
            </a:pPr>
            <a:r>
              <a:rPr lang="en-US" sz="1100" b="1" dirty="0">
                <a:solidFill>
                  <a:srgbClr val="FBBF24"/>
                </a:solidFill>
              </a:rPr>
              <a:t>🧳 03</a:t>
            </a:r>
            <a:endParaRPr lang="en-US" sz="1100" dirty="0"/>
          </a:p>
        </p:txBody>
      </p:sp>
      <p:sp>
        <p:nvSpPr>
          <p:cNvPr id="15" name="Text 13"/>
          <p:cNvSpPr/>
          <p:nvPr/>
        </p:nvSpPr>
        <p:spPr>
          <a:xfrm>
            <a:off x="338328" y="2596896"/>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Bundle Extra Baggage Offers</a:t>
            </a:r>
            <a:endParaRPr lang="en-US" sz="1100" dirty="0"/>
          </a:p>
        </p:txBody>
      </p:sp>
      <p:sp>
        <p:nvSpPr>
          <p:cNvPr id="16" name="Text 14"/>
          <p:cNvSpPr/>
          <p:nvPr/>
        </p:nvSpPr>
        <p:spPr>
          <a:xfrm>
            <a:off x="338328" y="2862072"/>
            <a:ext cx="4023360" cy="438912"/>
          </a:xfrm>
          <a:prstGeom prst="rect">
            <a:avLst/>
          </a:prstGeom>
          <a:noFill/>
          <a:ln/>
        </p:spPr>
        <p:txBody>
          <a:bodyPr wrap="square" lIns="0" tIns="0" rIns="0" bIns="0" rtlCol="0" anchor="ctr"/>
          <a:lstStyle/>
          <a:p>
            <a:pPr marL="0" indent="0">
              <a:buNone/>
            </a:pPr>
            <a:r>
              <a:rPr lang="en-US" sz="850" dirty="0">
                <a:solidFill>
                  <a:srgbClr val="AABCDD"/>
                </a:solidFill>
              </a:rPr>
              <a:t>Passengers booking baggage spend 73% more. Short-stay customers convert at 2× the rate — target them with bundled offers at checkout.</a:t>
            </a:r>
            <a:endParaRPr lang="en-US" sz="850" dirty="0"/>
          </a:p>
        </p:txBody>
      </p:sp>
      <p:sp>
        <p:nvSpPr>
          <p:cNvPr id="17" name="Shape 15"/>
          <p:cNvSpPr/>
          <p:nvPr/>
        </p:nvSpPr>
        <p:spPr>
          <a:xfrm>
            <a:off x="4709160" y="2267712"/>
            <a:ext cx="4251960" cy="1051560"/>
          </a:xfrm>
          <a:prstGeom prst="rect">
            <a:avLst/>
          </a:prstGeom>
          <a:solidFill>
            <a:srgbClr val="1A3560"/>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4818888" y="2340864"/>
            <a:ext cx="914400" cy="274320"/>
          </a:xfrm>
          <a:prstGeom prst="rect">
            <a:avLst/>
          </a:prstGeom>
          <a:noFill/>
          <a:ln/>
        </p:spPr>
        <p:txBody>
          <a:bodyPr wrap="square" lIns="0" tIns="0" rIns="0" bIns="0" rtlCol="0" anchor="ctr"/>
          <a:lstStyle/>
          <a:p>
            <a:pPr marL="0" indent="0">
              <a:buNone/>
            </a:pPr>
            <a:r>
              <a:rPr lang="en-US" sz="1100" b="1" dirty="0">
                <a:solidFill>
                  <a:srgbClr val="FBBF24"/>
                </a:solidFill>
              </a:rPr>
              <a:t>✈️ 04</a:t>
            </a:r>
            <a:endParaRPr lang="en-US" sz="1100" dirty="0"/>
          </a:p>
        </p:txBody>
      </p:sp>
      <p:sp>
        <p:nvSpPr>
          <p:cNvPr id="19" name="Text 17"/>
          <p:cNvSpPr/>
          <p:nvPr/>
        </p:nvSpPr>
        <p:spPr>
          <a:xfrm>
            <a:off x="4818888" y="2596896"/>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Fix Operational Variance</a:t>
            </a:r>
            <a:endParaRPr lang="en-US" sz="1100" dirty="0"/>
          </a:p>
        </p:txBody>
      </p:sp>
      <p:sp>
        <p:nvSpPr>
          <p:cNvPr id="20" name="Text 18"/>
          <p:cNvSpPr/>
          <p:nvPr/>
        </p:nvSpPr>
        <p:spPr>
          <a:xfrm>
            <a:off x="4818888" y="2862072"/>
            <a:ext cx="4023360" cy="438912"/>
          </a:xfrm>
          <a:prstGeom prst="rect">
            <a:avLst/>
          </a:prstGeom>
          <a:noFill/>
          <a:ln/>
        </p:spPr>
        <p:txBody>
          <a:bodyPr wrap="square" lIns="0" tIns="0" rIns="0" bIns="0" rtlCol="0" anchor="ctr"/>
          <a:lstStyle/>
          <a:p>
            <a:pPr marL="0" indent="0">
              <a:buNone/>
            </a:pPr>
            <a:r>
              <a:rPr lang="en-US" sz="850" dirty="0">
                <a:solidFill>
                  <a:srgbClr val="AABCDD"/>
                </a:solidFill>
              </a:rPr>
              <a:t>KIX and ICN airports have critical flight duration variance (1.80). Escalate to ops management — reduces fuel cost &amp; improves NPS.</a:t>
            </a:r>
            <a:endParaRPr lang="en-US" sz="850" dirty="0"/>
          </a:p>
        </p:txBody>
      </p:sp>
      <p:sp>
        <p:nvSpPr>
          <p:cNvPr id="21" name="Shape 19"/>
          <p:cNvSpPr/>
          <p:nvPr/>
        </p:nvSpPr>
        <p:spPr>
          <a:xfrm>
            <a:off x="228600" y="3456432"/>
            <a:ext cx="4251960" cy="1051560"/>
          </a:xfrm>
          <a:prstGeom prst="rect">
            <a:avLst/>
          </a:prstGeom>
          <a:solidFill>
            <a:srgbClr val="3D2B00"/>
          </a:solidFill>
          <a:ln/>
          <a:effectLst>
            <a:outerShdw blurRad="101600" dist="38100" dir="8100000" algn="bl" rotWithShape="0">
              <a:srgbClr val="000000">
                <a:alpha val="12000"/>
              </a:srgbClr>
            </a:outerShdw>
          </a:effectLst>
        </p:spPr>
        <p:txBody>
          <a:bodyPr/>
          <a:lstStyle/>
          <a:p>
            <a:endParaRPr lang="en-US"/>
          </a:p>
        </p:txBody>
      </p:sp>
      <p:sp>
        <p:nvSpPr>
          <p:cNvPr id="22" name="Text 20"/>
          <p:cNvSpPr/>
          <p:nvPr/>
        </p:nvSpPr>
        <p:spPr>
          <a:xfrm>
            <a:off x="338328" y="3529584"/>
            <a:ext cx="914400" cy="274320"/>
          </a:xfrm>
          <a:prstGeom prst="rect">
            <a:avLst/>
          </a:prstGeom>
          <a:noFill/>
          <a:ln/>
        </p:spPr>
        <p:txBody>
          <a:bodyPr wrap="square" lIns="0" tIns="0" rIns="0" bIns="0" rtlCol="0" anchor="ctr"/>
          <a:lstStyle/>
          <a:p>
            <a:pPr marL="0" indent="0">
              <a:buNone/>
            </a:pPr>
            <a:r>
              <a:rPr lang="en-US" sz="1100" b="1" dirty="0">
                <a:solidFill>
                  <a:srgbClr val="FBBF24"/>
                </a:solidFill>
              </a:rPr>
              <a:t>📅 05</a:t>
            </a:r>
            <a:endParaRPr lang="en-US" sz="1100" dirty="0"/>
          </a:p>
        </p:txBody>
      </p:sp>
      <p:sp>
        <p:nvSpPr>
          <p:cNvPr id="23" name="Text 21"/>
          <p:cNvSpPr/>
          <p:nvPr/>
        </p:nvSpPr>
        <p:spPr>
          <a:xfrm>
            <a:off x="338328" y="3785616"/>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Dynamic Weekend Pricing</a:t>
            </a:r>
            <a:endParaRPr lang="en-US" sz="1100" dirty="0"/>
          </a:p>
        </p:txBody>
      </p:sp>
      <p:sp>
        <p:nvSpPr>
          <p:cNvPr id="24" name="Text 22"/>
          <p:cNvSpPr/>
          <p:nvPr/>
        </p:nvSpPr>
        <p:spPr>
          <a:xfrm>
            <a:off x="338328" y="4050792"/>
            <a:ext cx="4023360" cy="438912"/>
          </a:xfrm>
          <a:prstGeom prst="rect">
            <a:avLst/>
          </a:prstGeom>
          <a:noFill/>
          <a:ln/>
        </p:spPr>
        <p:txBody>
          <a:bodyPr wrap="square" lIns="0" tIns="0" rIns="0" bIns="0" rtlCol="0" anchor="ctr"/>
          <a:lstStyle/>
          <a:p>
            <a:pPr marL="0" indent="0">
              <a:buNone/>
            </a:pPr>
            <a:r>
              <a:rPr lang="en-US" sz="850" dirty="0">
                <a:solidFill>
                  <a:srgbClr val="AABCDD"/>
                </a:solidFill>
              </a:rPr>
              <a:t>Saturday has 27% fewer passengers than Monday. Stimulate demand with targeted weekend flash sales and early-bird seat promotions.</a:t>
            </a:r>
            <a:endParaRPr lang="en-US" sz="850" dirty="0"/>
          </a:p>
        </p:txBody>
      </p:sp>
      <p:sp>
        <p:nvSpPr>
          <p:cNvPr id="25" name="Shape 23"/>
          <p:cNvSpPr/>
          <p:nvPr/>
        </p:nvSpPr>
        <p:spPr>
          <a:xfrm>
            <a:off x="4709160" y="3456432"/>
            <a:ext cx="4251960" cy="1051560"/>
          </a:xfrm>
          <a:prstGeom prst="rect">
            <a:avLst/>
          </a:prstGeom>
          <a:solidFill>
            <a:srgbClr val="1A3A20"/>
          </a:solidFill>
          <a:ln/>
          <a:effectLst>
            <a:outerShdw blurRad="101600" dist="38100" dir="8100000" algn="bl" rotWithShape="0">
              <a:srgbClr val="000000">
                <a:alpha val="12000"/>
              </a:srgbClr>
            </a:outerShdw>
          </a:effectLst>
        </p:spPr>
        <p:txBody>
          <a:bodyPr/>
          <a:lstStyle/>
          <a:p>
            <a:endParaRPr lang="en-US"/>
          </a:p>
        </p:txBody>
      </p:sp>
      <p:sp>
        <p:nvSpPr>
          <p:cNvPr id="26" name="Text 24"/>
          <p:cNvSpPr/>
          <p:nvPr/>
        </p:nvSpPr>
        <p:spPr>
          <a:xfrm>
            <a:off x="4818888" y="3529584"/>
            <a:ext cx="914400" cy="274320"/>
          </a:xfrm>
          <a:prstGeom prst="rect">
            <a:avLst/>
          </a:prstGeom>
          <a:noFill/>
          <a:ln/>
        </p:spPr>
        <p:txBody>
          <a:bodyPr wrap="square" lIns="0" tIns="0" rIns="0" bIns="0" rtlCol="0" anchor="ctr"/>
          <a:lstStyle/>
          <a:p>
            <a:pPr marL="0" indent="0">
              <a:buNone/>
            </a:pPr>
            <a:r>
              <a:rPr lang="en-US" sz="1100" b="1" dirty="0">
                <a:solidFill>
                  <a:srgbClr val="FBBF24"/>
                </a:solidFill>
              </a:rPr>
              <a:t>🌅 06</a:t>
            </a:r>
            <a:endParaRPr lang="en-US" sz="1100" dirty="0"/>
          </a:p>
        </p:txBody>
      </p:sp>
      <p:sp>
        <p:nvSpPr>
          <p:cNvPr id="27" name="Text 25"/>
          <p:cNvSpPr/>
          <p:nvPr/>
        </p:nvSpPr>
        <p:spPr>
          <a:xfrm>
            <a:off x="4818888" y="3785616"/>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Premium-Price Morning Flights</a:t>
            </a:r>
            <a:endParaRPr lang="en-US" sz="1100" dirty="0"/>
          </a:p>
        </p:txBody>
      </p:sp>
      <p:sp>
        <p:nvSpPr>
          <p:cNvPr id="28" name="Text 26"/>
          <p:cNvSpPr/>
          <p:nvPr/>
        </p:nvSpPr>
        <p:spPr>
          <a:xfrm>
            <a:off x="4818888" y="4050792"/>
            <a:ext cx="4023360" cy="438912"/>
          </a:xfrm>
          <a:prstGeom prst="rect">
            <a:avLst/>
          </a:prstGeom>
          <a:noFill/>
          <a:ln/>
        </p:spPr>
        <p:txBody>
          <a:bodyPr wrap="square" lIns="0" tIns="0" rIns="0" bIns="0" rtlCol="0" anchor="ctr"/>
          <a:lstStyle/>
          <a:p>
            <a:pPr marL="0" indent="0">
              <a:buNone/>
            </a:pPr>
            <a:r>
              <a:rPr lang="en-US" sz="850" dirty="0">
                <a:solidFill>
                  <a:srgbClr val="AABCDD"/>
                </a:solidFill>
              </a:rPr>
              <a:t>Morning slots carry the highest passenger load across all weekdays. Introduce peak-time pricing to capture additional revenue per seat.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E4E"/>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D9488"/>
          </a:solidFill>
          <a:ln/>
        </p:spPr>
        <p:txBody>
          <a:bodyPr/>
          <a:lstStyle/>
          <a:p>
            <a:endParaRPr lang="en-US"/>
          </a:p>
        </p:txBody>
      </p:sp>
      <p:sp>
        <p:nvSpPr>
          <p:cNvPr id="3" name="Text 1"/>
          <p:cNvSpPr/>
          <p:nvPr/>
        </p:nvSpPr>
        <p:spPr>
          <a:xfrm>
            <a:off x="914400" y="502920"/>
            <a:ext cx="7315200" cy="411480"/>
          </a:xfrm>
          <a:prstGeom prst="rect">
            <a:avLst/>
          </a:prstGeom>
          <a:noFill/>
          <a:ln/>
        </p:spPr>
        <p:txBody>
          <a:bodyPr wrap="square" rtlCol="0" anchor="ctr"/>
          <a:lstStyle/>
          <a:p>
            <a:pPr marL="0" indent="0" algn="ctr">
              <a:buNone/>
            </a:pPr>
            <a:r>
              <a:rPr lang="en-US" sz="1400" b="1" kern="0" spc="300" dirty="0">
                <a:solidFill>
                  <a:srgbClr val="0D9488"/>
                </a:solidFill>
              </a:rPr>
              <a:t>IndiGo Airlines</a:t>
            </a:r>
            <a:endParaRPr lang="en-US" sz="1400" dirty="0"/>
          </a:p>
        </p:txBody>
      </p:sp>
      <p:sp>
        <p:nvSpPr>
          <p:cNvPr id="4" name="Text 2"/>
          <p:cNvSpPr/>
          <p:nvPr/>
        </p:nvSpPr>
        <p:spPr>
          <a:xfrm>
            <a:off x="914400" y="868680"/>
            <a:ext cx="7315200" cy="914400"/>
          </a:xfrm>
          <a:prstGeom prst="rect">
            <a:avLst/>
          </a:prstGeom>
          <a:noFill/>
          <a:ln/>
        </p:spPr>
        <p:txBody>
          <a:bodyPr wrap="square" rtlCol="0" anchor="ctr"/>
          <a:lstStyle/>
          <a:p>
            <a:pPr marL="0" indent="0" algn="ctr">
              <a:buNone/>
            </a:pPr>
            <a:r>
              <a:rPr lang="en-US" sz="3600" b="1" dirty="0">
                <a:solidFill>
                  <a:srgbClr val="FFFFFF"/>
                </a:solidFill>
              </a:rPr>
              <a:t>Analysis Summary</a:t>
            </a:r>
            <a:endParaRPr lang="en-US" sz="3600" dirty="0"/>
          </a:p>
        </p:txBody>
      </p:sp>
      <p:sp>
        <p:nvSpPr>
          <p:cNvPr id="5" name="Shape 3"/>
          <p:cNvSpPr/>
          <p:nvPr/>
        </p:nvSpPr>
        <p:spPr>
          <a:xfrm>
            <a:off x="1097280" y="1920240"/>
            <a:ext cx="1371600" cy="1371600"/>
          </a:xfrm>
          <a:prstGeom prst="ellipse">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960120" y="1965960"/>
            <a:ext cx="1645920" cy="685800"/>
          </a:xfrm>
          <a:prstGeom prst="rect">
            <a:avLst/>
          </a:prstGeom>
          <a:noFill/>
          <a:ln/>
        </p:spPr>
        <p:txBody>
          <a:bodyPr wrap="square" lIns="0" tIns="0" rIns="0" bIns="0" rtlCol="0" anchor="ctr"/>
          <a:lstStyle/>
          <a:p>
            <a:pPr marL="0" indent="0" algn="ctr">
              <a:buNone/>
            </a:pPr>
            <a:r>
              <a:rPr lang="en-US" sz="1600" b="1" dirty="0">
                <a:solidFill>
                  <a:srgbClr val="FBBF24"/>
                </a:solidFill>
              </a:rPr>
              <a:t>₹18.34 Cr</a:t>
            </a:r>
            <a:endParaRPr lang="en-US" sz="1600" dirty="0"/>
          </a:p>
        </p:txBody>
      </p:sp>
      <p:sp>
        <p:nvSpPr>
          <p:cNvPr id="7" name="Text 5"/>
          <p:cNvSpPr/>
          <p:nvPr/>
        </p:nvSpPr>
        <p:spPr>
          <a:xfrm>
            <a:off x="914400" y="2651760"/>
            <a:ext cx="1737360" cy="365760"/>
          </a:xfrm>
          <a:prstGeom prst="rect">
            <a:avLst/>
          </a:prstGeom>
          <a:noFill/>
          <a:ln/>
        </p:spPr>
        <p:txBody>
          <a:bodyPr wrap="square" rtlCol="0" anchor="ctr"/>
          <a:lstStyle/>
          <a:p>
            <a:pPr marL="0" indent="0" algn="ctr">
              <a:buNone/>
            </a:pPr>
            <a:r>
              <a:rPr lang="en-US" sz="850" dirty="0">
                <a:solidFill>
                  <a:srgbClr val="AABCDD"/>
                </a:solidFill>
              </a:rPr>
              <a:t>Total Revenue Analysed</a:t>
            </a:r>
            <a:endParaRPr lang="en-US" sz="850" dirty="0"/>
          </a:p>
        </p:txBody>
      </p:sp>
      <p:sp>
        <p:nvSpPr>
          <p:cNvPr id="8" name="Shape 6"/>
          <p:cNvSpPr/>
          <p:nvPr/>
        </p:nvSpPr>
        <p:spPr>
          <a:xfrm>
            <a:off x="3566160" y="1920240"/>
            <a:ext cx="1371600" cy="1371600"/>
          </a:xfrm>
          <a:prstGeom prst="ellipse">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3429000" y="1965960"/>
            <a:ext cx="1645920" cy="685800"/>
          </a:xfrm>
          <a:prstGeom prst="rect">
            <a:avLst/>
          </a:prstGeom>
          <a:noFill/>
          <a:ln/>
        </p:spPr>
        <p:txBody>
          <a:bodyPr wrap="square" lIns="0" tIns="0" rIns="0" bIns="0" rtlCol="0" anchor="ctr"/>
          <a:lstStyle/>
          <a:p>
            <a:pPr marL="0" indent="0" algn="ctr">
              <a:buNone/>
            </a:pPr>
            <a:r>
              <a:rPr lang="en-US" sz="1600" b="1" dirty="0">
                <a:solidFill>
                  <a:srgbClr val="FBBF24"/>
                </a:solidFill>
              </a:rPr>
              <a:t>14.89%</a:t>
            </a:r>
            <a:endParaRPr lang="en-US" sz="1600" dirty="0"/>
          </a:p>
        </p:txBody>
      </p:sp>
      <p:sp>
        <p:nvSpPr>
          <p:cNvPr id="10" name="Text 8"/>
          <p:cNvSpPr/>
          <p:nvPr/>
        </p:nvSpPr>
        <p:spPr>
          <a:xfrm>
            <a:off x="3383280" y="2651760"/>
            <a:ext cx="1737360" cy="365760"/>
          </a:xfrm>
          <a:prstGeom prst="rect">
            <a:avLst/>
          </a:prstGeom>
          <a:noFill/>
          <a:ln/>
        </p:spPr>
        <p:txBody>
          <a:bodyPr wrap="square" rtlCol="0" anchor="ctr"/>
          <a:lstStyle/>
          <a:p>
            <a:pPr marL="0" indent="0" algn="ctr">
              <a:buNone/>
            </a:pPr>
            <a:r>
              <a:rPr lang="en-US" sz="850" dirty="0">
                <a:solidFill>
                  <a:srgbClr val="AABCDD"/>
                </a:solidFill>
              </a:rPr>
              <a:t>Overall Conversion Rate</a:t>
            </a:r>
            <a:endParaRPr lang="en-US" sz="850" dirty="0"/>
          </a:p>
        </p:txBody>
      </p:sp>
      <p:sp>
        <p:nvSpPr>
          <p:cNvPr id="11" name="Shape 9"/>
          <p:cNvSpPr/>
          <p:nvPr/>
        </p:nvSpPr>
        <p:spPr>
          <a:xfrm>
            <a:off x="6035040" y="1920240"/>
            <a:ext cx="1371600" cy="1371600"/>
          </a:xfrm>
          <a:prstGeom prst="ellipse">
            <a:avLst/>
          </a:prstGeom>
          <a:solidFill>
            <a:srgbClr val="1A3A8F"/>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5897880" y="1965960"/>
            <a:ext cx="1645920" cy="685800"/>
          </a:xfrm>
          <a:prstGeom prst="rect">
            <a:avLst/>
          </a:prstGeom>
          <a:noFill/>
          <a:ln/>
        </p:spPr>
        <p:txBody>
          <a:bodyPr wrap="square" lIns="0" tIns="0" rIns="0" bIns="0" rtlCol="0" anchor="ctr"/>
          <a:lstStyle/>
          <a:p>
            <a:pPr marL="0" indent="0" algn="ctr">
              <a:buNone/>
            </a:pPr>
            <a:r>
              <a:rPr lang="en-US" sz="1600" b="1" dirty="0">
                <a:solidFill>
                  <a:srgbClr val="FBBF24"/>
                </a:solidFill>
              </a:rPr>
              <a:t>6 Airports</a:t>
            </a:r>
            <a:endParaRPr lang="en-US" sz="1600" dirty="0"/>
          </a:p>
        </p:txBody>
      </p:sp>
      <p:sp>
        <p:nvSpPr>
          <p:cNvPr id="13" name="Text 11"/>
          <p:cNvSpPr/>
          <p:nvPr/>
        </p:nvSpPr>
        <p:spPr>
          <a:xfrm>
            <a:off x="5852160" y="2651760"/>
            <a:ext cx="1737360" cy="365760"/>
          </a:xfrm>
          <a:prstGeom prst="rect">
            <a:avLst/>
          </a:prstGeom>
          <a:noFill/>
          <a:ln/>
        </p:spPr>
        <p:txBody>
          <a:bodyPr wrap="square" rtlCol="0" anchor="ctr"/>
          <a:lstStyle/>
          <a:p>
            <a:pPr marL="0" indent="0" algn="ctr">
              <a:buNone/>
            </a:pPr>
            <a:r>
              <a:rPr lang="en-US" sz="850" dirty="0">
                <a:solidFill>
                  <a:srgbClr val="AABCDD"/>
                </a:solidFill>
              </a:rPr>
              <a:t>Flagged for Ops Review</a:t>
            </a:r>
            <a:endParaRPr lang="en-US" sz="850" dirty="0"/>
          </a:p>
        </p:txBody>
      </p:sp>
      <p:sp>
        <p:nvSpPr>
          <p:cNvPr id="14" name="Text 12"/>
          <p:cNvSpPr/>
          <p:nvPr/>
        </p:nvSpPr>
        <p:spPr>
          <a:xfrm>
            <a:off x="731520" y="3246120"/>
            <a:ext cx="7680960" cy="914400"/>
          </a:xfrm>
          <a:prstGeom prst="rect">
            <a:avLst/>
          </a:prstGeom>
          <a:noFill/>
          <a:ln/>
        </p:spPr>
        <p:txBody>
          <a:bodyPr wrap="square" rtlCol="0" anchor="ctr"/>
          <a:lstStyle/>
          <a:p>
            <a:pPr marL="0" indent="0" algn="ctr">
              <a:buNone/>
            </a:pPr>
            <a:r>
              <a:rPr lang="en-US" sz="1100" i="1" dirty="0">
                <a:solidFill>
                  <a:srgbClr val="D1D5DB"/>
                </a:solidFill>
              </a:rPr>
              <a:t>The data clearly shows that Business class, Internet channel, and morning weekday flights are the primary revenue drivers. IndiGo should prioritise operational fixes at KIX/ICN airports, invest in the mobile channel, and deploy targeted ancillary upsells to maximise per-passenger revenue.</a:t>
            </a:r>
            <a:endParaRPr lang="en-US" sz="1100" dirty="0"/>
          </a:p>
        </p:txBody>
      </p:sp>
      <p:sp>
        <p:nvSpPr>
          <p:cNvPr id="15" name="Text 13"/>
          <p:cNvSpPr/>
          <p:nvPr/>
        </p:nvSpPr>
        <p:spPr>
          <a:xfrm>
            <a:off x="0" y="4434840"/>
            <a:ext cx="9144000" cy="548640"/>
          </a:xfrm>
          <a:prstGeom prst="rect">
            <a:avLst/>
          </a:prstGeom>
          <a:noFill/>
          <a:ln/>
        </p:spPr>
        <p:txBody>
          <a:bodyPr wrap="square" rtlCol="0" anchor="ctr"/>
          <a:lstStyle/>
          <a:p>
            <a:pPr marL="0" indent="0" algn="ctr">
              <a:buNone/>
            </a:pPr>
            <a:r>
              <a:rPr lang="en-US" sz="1100" dirty="0"/>
              <a:t>Thank You !</a:t>
            </a:r>
          </a:p>
          <a:p>
            <a:pPr marL="0" indent="0" algn="ctr">
              <a:buNone/>
            </a:pPr>
            <a:r>
              <a:rPr lang="en-US" sz="1100" dirty="0"/>
              <a:t>Nishant Kumar Mishra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1206</Words>
  <Application>Microsoft Office PowerPoint</Application>
  <PresentationFormat>On-screen Show (16:9)</PresentationFormat>
  <Paragraphs>219</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IndiGo Airlines – Booking Data Analysis</dc:title>
  <dc:subject>PptxGenJS Presentation</dc:subject>
  <dc:creator>PptxGenJS</dc:creator>
  <cp:lastModifiedBy>NISHANT MISHRA</cp:lastModifiedBy>
  <cp:revision>4</cp:revision>
  <dcterms:created xsi:type="dcterms:W3CDTF">2026-04-02T19:11:33Z</dcterms:created>
  <dcterms:modified xsi:type="dcterms:W3CDTF">2026-04-02T21:40:40Z</dcterms:modified>
</cp:coreProperties>
</file>